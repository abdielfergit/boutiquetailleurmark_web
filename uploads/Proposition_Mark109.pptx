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9418320" y="-2011680"/>
            <a:ext cx="5943600" cy="5943600"/>
          </a:xfrm>
          <a:prstGeom prst="ellipse">
            <a:avLst/>
          </a:prstGeom>
          <a:solidFill>
            <a:srgbClr val="2B2B2B"/>
          </a:solidFill>
          <a:ln/>
        </p:spPr>
      </p:sp>
      <p:sp>
        <p:nvSpPr>
          <p:cNvPr id="3" name="Shape 1"/>
          <p:cNvSpPr/>
          <p:nvPr/>
        </p:nvSpPr>
        <p:spPr>
          <a:xfrm>
            <a:off x="10607040" y="-914400"/>
            <a:ext cx="3474720" cy="3474720"/>
          </a:xfrm>
          <a:prstGeom prst="ellipse">
            <a:avLst/>
          </a:prstGeom>
          <a:solidFill>
            <a:srgbClr val="252525"/>
          </a:solidFill>
          <a:ln w="9525">
            <a:solidFill>
              <a:srgbClr val="9C7A3C"/>
            </a:solidFill>
            <a:prstDash val="solid"/>
          </a:ln>
        </p:spPr>
      </p:sp>
      <p:sp>
        <p:nvSpPr>
          <p:cNvPr id="4" name="Text 2"/>
          <p:cNvSpPr/>
          <p:nvPr/>
        </p:nvSpPr>
        <p:spPr>
          <a:xfrm>
            <a:off x="731520" y="2331720"/>
            <a:ext cx="9601200" cy="457200"/>
          </a:xfrm>
          <a:prstGeom prst="rect">
            <a:avLst/>
          </a:prstGeom>
          <a:noFill/>
          <a:ln/>
        </p:spPr>
        <p:txBody>
          <a:bodyPr wrap="square" rtlCol="0" anchor="ctr"/>
          <a:lstStyle/>
          <a:p>
            <a:pPr indent="0" marL="0">
              <a:buNone/>
            </a:pPr>
            <a:r>
              <a:rPr lang="en-US" sz="1500" b="1" spc="300" kern="0" dirty="0">
                <a:solidFill>
                  <a:srgbClr val="C9A96A"/>
                </a:solidFill>
                <a:latin typeface="Calibri" pitchFamily="34" charset="0"/>
                <a:ea typeface="Calibri" pitchFamily="34" charset="-122"/>
                <a:cs typeface="Calibri" pitchFamily="34" charset="-120"/>
              </a:rPr>
              <a:t>BOUTIQUE TAILLEUR MARK 109</a:t>
            </a:r>
            <a:endParaRPr lang="en-US" sz="1500" dirty="0"/>
          </a:p>
        </p:txBody>
      </p:sp>
      <p:sp>
        <p:nvSpPr>
          <p:cNvPr id="5" name="Text 3"/>
          <p:cNvSpPr/>
          <p:nvPr/>
        </p:nvSpPr>
        <p:spPr>
          <a:xfrm>
            <a:off x="685800" y="2743200"/>
            <a:ext cx="10515600" cy="1280160"/>
          </a:xfrm>
          <a:prstGeom prst="rect">
            <a:avLst/>
          </a:prstGeom>
          <a:noFill/>
          <a:ln/>
        </p:spPr>
        <p:txBody>
          <a:bodyPr wrap="square"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L'Atelier Privé</a:t>
            </a:r>
            <a:endParaRPr lang="en-US" sz="5400" dirty="0"/>
          </a:p>
        </p:txBody>
      </p:sp>
      <p:sp>
        <p:nvSpPr>
          <p:cNvPr id="6" name="Text 4"/>
          <p:cNvSpPr/>
          <p:nvPr/>
        </p:nvSpPr>
        <p:spPr>
          <a:xfrm>
            <a:off x="731520" y="3977640"/>
            <a:ext cx="9144000" cy="548640"/>
          </a:xfrm>
          <a:prstGeom prst="rect">
            <a:avLst/>
          </a:prstGeom>
          <a:noFill/>
          <a:ln/>
        </p:spPr>
        <p:txBody>
          <a:bodyPr wrap="square" rtlCol="0" anchor="ctr"/>
          <a:lstStyle/>
          <a:p>
            <a:pPr indent="0" marL="0">
              <a:buNone/>
            </a:pPr>
            <a:r>
              <a:rPr lang="en-US" sz="1800" i="1" dirty="0">
                <a:solidFill>
                  <a:srgbClr val="F1E9D8"/>
                </a:solidFill>
                <a:latin typeface="Calibri" pitchFamily="34" charset="0"/>
                <a:ea typeface="Calibri" pitchFamily="34" charset="-122"/>
                <a:cs typeface="Calibri" pitchFamily="34" charset="-120"/>
              </a:rPr>
              <a:t>Proposition stratégique de positionnement et de croissance</a:t>
            </a:r>
            <a:endParaRPr lang="en-US" sz="1800" dirty="0"/>
          </a:p>
        </p:txBody>
      </p:sp>
      <p:sp>
        <p:nvSpPr>
          <p:cNvPr id="7" name="Shape 5"/>
          <p:cNvSpPr/>
          <p:nvPr/>
        </p:nvSpPr>
        <p:spPr>
          <a:xfrm>
            <a:off x="777240" y="4709160"/>
            <a:ext cx="1280160" cy="0"/>
          </a:xfrm>
          <a:prstGeom prst="line">
            <a:avLst/>
          </a:prstGeom>
          <a:noFill/>
          <a:ln w="25400">
            <a:solidFill>
              <a:srgbClr val="9C7A3C"/>
            </a:solidFill>
            <a:prstDash val="solid"/>
          </a:ln>
        </p:spPr>
      </p:sp>
      <p:sp>
        <p:nvSpPr>
          <p:cNvPr id="8" name="Text 6"/>
          <p:cNvSpPr/>
          <p:nvPr/>
        </p:nvSpPr>
        <p:spPr>
          <a:xfrm>
            <a:off x="731520" y="4846320"/>
            <a:ext cx="5486400" cy="365760"/>
          </a:xfrm>
          <a:prstGeom prst="rect">
            <a:avLst/>
          </a:prstGeom>
          <a:noFill/>
          <a:ln/>
        </p:spPr>
        <p:txBody>
          <a:bodyPr wrap="square" rtlCol="0" anchor="ctr"/>
          <a:lstStyle/>
          <a:p>
            <a:pPr indent="0" marL="0">
              <a:buNone/>
            </a:pPr>
            <a:r>
              <a:rPr lang="en-US" sz="1200" dirty="0">
                <a:solidFill>
                  <a:srgbClr val="9A9A9A"/>
                </a:solidFill>
                <a:latin typeface="Calibri" pitchFamily="34" charset="0"/>
                <a:ea typeface="Calibri" pitchFamily="34" charset="-122"/>
                <a:cs typeface="Calibri" pitchFamily="34" charset="-120"/>
              </a:rPr>
              <a:t>15 août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9C7A3C"/>
                </a:solidFill>
                <a:latin typeface="Calibri" pitchFamily="34" charset="0"/>
                <a:ea typeface="Calibri" pitchFamily="34" charset="-122"/>
                <a:cs typeface="Calibri" pitchFamily="34" charset="-120"/>
              </a:rPr>
              <a:t>CONSTAT</a:t>
            </a:r>
            <a:endParaRPr lang="en-US" sz="1300" dirty="0"/>
          </a:p>
        </p:txBody>
      </p:sp>
      <p:sp>
        <p:nvSpPr>
          <p:cNvPr id="3" name="Text 1"/>
          <p:cNvSpPr/>
          <p:nvPr/>
        </p:nvSpPr>
        <p:spPr>
          <a:xfrm>
            <a:off x="548640" y="713232"/>
            <a:ext cx="10515600" cy="822960"/>
          </a:xfrm>
          <a:prstGeom prst="rect">
            <a:avLst/>
          </a:prstGeom>
          <a:noFill/>
          <a:ln/>
        </p:spPr>
        <p:txBody>
          <a:bodyPr wrap="square" rtlCol="0" anchor="ctr"/>
          <a:lstStyle/>
          <a:p>
            <a:pPr indent="0" marL="0">
              <a:buNone/>
            </a:pPr>
            <a:r>
              <a:rPr lang="en-US" sz="3000" b="1" dirty="0">
                <a:solidFill>
                  <a:srgbClr val="1E1E1E"/>
                </a:solidFill>
                <a:latin typeface="Cambria" pitchFamily="34" charset="0"/>
                <a:ea typeface="Cambria" pitchFamily="34" charset="-122"/>
                <a:cs typeface="Cambria" pitchFamily="34" charset="-120"/>
              </a:rPr>
              <a:t>Une base solide, sous-exploitée</a:t>
            </a:r>
            <a:endParaRPr lang="en-US" sz="3000" dirty="0"/>
          </a:p>
        </p:txBody>
      </p:sp>
      <p:sp>
        <p:nvSpPr>
          <p:cNvPr id="4" name="Text 2"/>
          <p:cNvSpPr/>
          <p:nvPr/>
        </p:nvSpPr>
        <p:spPr>
          <a:xfrm>
            <a:off x="548640" y="1783080"/>
            <a:ext cx="2377440" cy="914400"/>
          </a:xfrm>
          <a:prstGeom prst="rect">
            <a:avLst/>
          </a:prstGeom>
          <a:noFill/>
          <a:ln/>
        </p:spPr>
        <p:txBody>
          <a:bodyPr wrap="square" rtlCol="0" anchor="ctr"/>
          <a:lstStyle/>
          <a:p>
            <a:pPr indent="0" marL="0">
              <a:buNone/>
            </a:pPr>
            <a:r>
              <a:rPr lang="en-US" sz="5400" b="1" dirty="0">
                <a:solidFill>
                  <a:srgbClr val="9C7A3C"/>
                </a:solidFill>
                <a:latin typeface="Cambria" pitchFamily="34" charset="0"/>
                <a:ea typeface="Cambria" pitchFamily="34" charset="-122"/>
                <a:cs typeface="Cambria" pitchFamily="34" charset="-120"/>
              </a:rPr>
              <a:t>30+</a:t>
            </a:r>
            <a:endParaRPr lang="en-US" sz="5400" dirty="0"/>
          </a:p>
        </p:txBody>
      </p:sp>
      <p:sp>
        <p:nvSpPr>
          <p:cNvPr id="5" name="Text 3"/>
          <p:cNvSpPr/>
          <p:nvPr/>
        </p:nvSpPr>
        <p:spPr>
          <a:xfrm>
            <a:off x="548640" y="2606040"/>
            <a:ext cx="2468880" cy="822960"/>
          </a:xfrm>
          <a:prstGeom prst="rect">
            <a:avLst/>
          </a:prstGeom>
          <a:noFill/>
          <a:ln/>
        </p:spPr>
        <p:txBody>
          <a:bodyPr wrap="square" rtlCol="0" anchor="ctr"/>
          <a:lstStyle/>
          <a:p>
            <a:pPr indent="0" marL="0">
              <a:buNone/>
            </a:pPr>
            <a:r>
              <a:rPr lang="en-US" sz="1300" dirty="0">
                <a:solidFill>
                  <a:srgbClr val="6B6B6B"/>
                </a:solidFill>
                <a:latin typeface="Calibri" pitchFamily="34" charset="0"/>
                <a:ea typeface="Calibri" pitchFamily="34" charset="-122"/>
                <a:cs typeface="Calibri" pitchFamily="34" charset="-120"/>
              </a:rPr>
              <a:t>années d'expertise en couture et en altération</a:t>
            </a:r>
            <a:endParaRPr lang="en-US" sz="1300" dirty="0"/>
          </a:p>
        </p:txBody>
      </p:sp>
      <p:sp>
        <p:nvSpPr>
          <p:cNvPr id="6" name="Shape 4"/>
          <p:cNvSpPr/>
          <p:nvPr/>
        </p:nvSpPr>
        <p:spPr>
          <a:xfrm>
            <a:off x="3749040" y="1746504"/>
            <a:ext cx="146304" cy="146304"/>
          </a:xfrm>
          <a:prstGeom prst="ellipse">
            <a:avLst/>
          </a:prstGeom>
          <a:solidFill>
            <a:srgbClr val="9C7A3C"/>
          </a:solidFill>
          <a:ln/>
        </p:spPr>
      </p:sp>
      <p:sp>
        <p:nvSpPr>
          <p:cNvPr id="7" name="Text 5"/>
          <p:cNvSpPr/>
          <p:nvPr/>
        </p:nvSpPr>
        <p:spPr>
          <a:xfrm>
            <a:off x="4069080" y="1618488"/>
            <a:ext cx="7498080" cy="320040"/>
          </a:xfrm>
          <a:prstGeom prst="rect">
            <a:avLst/>
          </a:prstGeom>
          <a:noFill/>
          <a:ln/>
        </p:spPr>
        <p:txBody>
          <a:bodyPr wrap="square" rtlCol="0" anchor="ctr"/>
          <a:lstStyle/>
          <a:p>
            <a:pPr indent="0" marL="0">
              <a:buNone/>
            </a:pPr>
            <a:r>
              <a:rPr lang="en-US" sz="1500" b="1" dirty="0">
                <a:solidFill>
                  <a:srgbClr val="1E1E1E"/>
                </a:solidFill>
                <a:latin typeface="Calibri" pitchFamily="34" charset="0"/>
                <a:ea typeface="Calibri" pitchFamily="34" charset="-122"/>
                <a:cs typeface="Calibri" pitchFamily="34" charset="-120"/>
              </a:rPr>
              <a:t>Clientèle établie</a:t>
            </a:r>
            <a:endParaRPr lang="en-US" sz="1500" dirty="0"/>
          </a:p>
        </p:txBody>
      </p:sp>
      <p:sp>
        <p:nvSpPr>
          <p:cNvPr id="8" name="Text 6"/>
          <p:cNvSpPr/>
          <p:nvPr/>
        </p:nvSpPr>
        <p:spPr>
          <a:xfrm>
            <a:off x="4069080" y="1938528"/>
            <a:ext cx="7498080" cy="457200"/>
          </a:xfrm>
          <a:prstGeom prst="rect">
            <a:avLst/>
          </a:prstGeom>
          <a:noFill/>
          <a:ln/>
        </p:spPr>
        <p:txBody>
          <a:bodyPr wrap="square" rtlCol="0" anchor="ctr"/>
          <a:lstStyle/>
          <a:p>
            <a:pPr indent="0" marL="0">
              <a:buNone/>
            </a:pPr>
            <a:r>
              <a:rPr lang="en-US" sz="1250" dirty="0">
                <a:solidFill>
                  <a:srgbClr val="6B6B6B"/>
                </a:solidFill>
                <a:latin typeface="Calibri" pitchFamily="34" charset="0"/>
                <a:ea typeface="Calibri" pitchFamily="34" charset="-122"/>
                <a:cs typeface="Calibri" pitchFamily="34" charset="-120"/>
              </a:rPr>
              <a:t>Des noms reconnus du monde de la mode font déjà appel à l'atelier.</a:t>
            </a:r>
            <a:endParaRPr lang="en-US" sz="1250" dirty="0"/>
          </a:p>
        </p:txBody>
      </p:sp>
      <p:sp>
        <p:nvSpPr>
          <p:cNvPr id="9" name="Shape 7"/>
          <p:cNvSpPr/>
          <p:nvPr/>
        </p:nvSpPr>
        <p:spPr>
          <a:xfrm>
            <a:off x="3749040" y="2798064"/>
            <a:ext cx="146304" cy="146304"/>
          </a:xfrm>
          <a:prstGeom prst="ellipse">
            <a:avLst/>
          </a:prstGeom>
          <a:solidFill>
            <a:srgbClr val="9C7A3C"/>
          </a:solidFill>
          <a:ln/>
        </p:spPr>
      </p:sp>
      <p:sp>
        <p:nvSpPr>
          <p:cNvPr id="10" name="Text 8"/>
          <p:cNvSpPr/>
          <p:nvPr/>
        </p:nvSpPr>
        <p:spPr>
          <a:xfrm>
            <a:off x="4069080" y="2670048"/>
            <a:ext cx="7498080" cy="320040"/>
          </a:xfrm>
          <a:prstGeom prst="rect">
            <a:avLst/>
          </a:prstGeom>
          <a:noFill/>
          <a:ln/>
        </p:spPr>
        <p:txBody>
          <a:bodyPr wrap="square" rtlCol="0" anchor="ctr"/>
          <a:lstStyle/>
          <a:p>
            <a:pPr indent="0" marL="0">
              <a:buNone/>
            </a:pPr>
            <a:r>
              <a:rPr lang="en-US" sz="1500" b="1" dirty="0">
                <a:solidFill>
                  <a:srgbClr val="1E1E1E"/>
                </a:solidFill>
                <a:latin typeface="Calibri" pitchFamily="34" charset="0"/>
                <a:ea typeface="Calibri" pitchFamily="34" charset="-122"/>
                <a:cs typeface="Calibri" pitchFamily="34" charset="-120"/>
              </a:rPr>
              <a:t>Spécialisation rare</a:t>
            </a:r>
            <a:endParaRPr lang="en-US" sz="1500" dirty="0"/>
          </a:p>
        </p:txBody>
      </p:sp>
      <p:sp>
        <p:nvSpPr>
          <p:cNvPr id="11" name="Text 9"/>
          <p:cNvSpPr/>
          <p:nvPr/>
        </p:nvSpPr>
        <p:spPr>
          <a:xfrm>
            <a:off x="4069080" y="2990088"/>
            <a:ext cx="7498080" cy="457200"/>
          </a:xfrm>
          <a:prstGeom prst="rect">
            <a:avLst/>
          </a:prstGeom>
          <a:noFill/>
          <a:ln/>
        </p:spPr>
        <p:txBody>
          <a:bodyPr wrap="square" rtlCol="0" anchor="ctr"/>
          <a:lstStyle/>
          <a:p>
            <a:pPr indent="0" marL="0">
              <a:buNone/>
            </a:pPr>
            <a:r>
              <a:rPr lang="en-US" sz="1250" dirty="0">
                <a:solidFill>
                  <a:srgbClr val="6B6B6B"/>
                </a:solidFill>
                <a:latin typeface="Calibri" pitchFamily="34" charset="0"/>
                <a:ea typeface="Calibri" pitchFamily="34" charset="-122"/>
                <a:cs typeface="Calibri" pitchFamily="34" charset="-120"/>
              </a:rPr>
              <a:t>Maîtrise des tissus délicats : suède, cuir, soie.</a:t>
            </a:r>
            <a:endParaRPr lang="en-US" sz="1250" dirty="0"/>
          </a:p>
        </p:txBody>
      </p:sp>
      <p:sp>
        <p:nvSpPr>
          <p:cNvPr id="12" name="Shape 10"/>
          <p:cNvSpPr/>
          <p:nvPr/>
        </p:nvSpPr>
        <p:spPr>
          <a:xfrm>
            <a:off x="3749040" y="3849624"/>
            <a:ext cx="146304" cy="146304"/>
          </a:xfrm>
          <a:prstGeom prst="ellipse">
            <a:avLst/>
          </a:prstGeom>
          <a:solidFill>
            <a:srgbClr val="9C7A3C"/>
          </a:solidFill>
          <a:ln/>
        </p:spPr>
      </p:sp>
      <p:sp>
        <p:nvSpPr>
          <p:cNvPr id="13" name="Text 11"/>
          <p:cNvSpPr/>
          <p:nvPr/>
        </p:nvSpPr>
        <p:spPr>
          <a:xfrm>
            <a:off x="4069080" y="3721608"/>
            <a:ext cx="7498080" cy="320040"/>
          </a:xfrm>
          <a:prstGeom prst="rect">
            <a:avLst/>
          </a:prstGeom>
          <a:noFill/>
          <a:ln/>
        </p:spPr>
        <p:txBody>
          <a:bodyPr wrap="square" rtlCol="0" anchor="ctr"/>
          <a:lstStyle/>
          <a:p>
            <a:pPr indent="0" marL="0">
              <a:buNone/>
            </a:pPr>
            <a:r>
              <a:rPr lang="en-US" sz="1500" b="1" dirty="0">
                <a:solidFill>
                  <a:srgbClr val="1E1E1E"/>
                </a:solidFill>
                <a:latin typeface="Calibri" pitchFamily="34" charset="0"/>
                <a:ea typeface="Calibri" pitchFamily="34" charset="-122"/>
                <a:cs typeface="Calibri" pitchFamily="34" charset="-120"/>
              </a:rPr>
              <a:t>Offre à trois volets</a:t>
            </a:r>
            <a:endParaRPr lang="en-US" sz="1500" dirty="0"/>
          </a:p>
        </p:txBody>
      </p:sp>
      <p:sp>
        <p:nvSpPr>
          <p:cNvPr id="14" name="Text 12"/>
          <p:cNvSpPr/>
          <p:nvPr/>
        </p:nvSpPr>
        <p:spPr>
          <a:xfrm>
            <a:off x="4069080" y="4041648"/>
            <a:ext cx="7498080" cy="457200"/>
          </a:xfrm>
          <a:prstGeom prst="rect">
            <a:avLst/>
          </a:prstGeom>
          <a:noFill/>
          <a:ln/>
        </p:spPr>
        <p:txBody>
          <a:bodyPr wrap="square" rtlCol="0" anchor="ctr"/>
          <a:lstStyle/>
          <a:p>
            <a:pPr indent="0" marL="0">
              <a:buNone/>
            </a:pPr>
            <a:r>
              <a:rPr lang="en-US" sz="1250" dirty="0">
                <a:solidFill>
                  <a:srgbClr val="6B6B6B"/>
                </a:solidFill>
                <a:latin typeface="Calibri" pitchFamily="34" charset="0"/>
                <a:ea typeface="Calibri" pitchFamily="34" charset="-122"/>
                <a:cs typeface="Calibri" pitchFamily="34" charset="-120"/>
              </a:rPr>
              <a:t>Sur-mesure, altérations fines et boutique haut de gamme, déjà en place.</a:t>
            </a:r>
            <a:endParaRPr lang="en-US" sz="1250" dirty="0"/>
          </a:p>
        </p:txBody>
      </p:sp>
      <p:sp>
        <p:nvSpPr>
          <p:cNvPr id="15" name="Shape 13"/>
          <p:cNvSpPr/>
          <p:nvPr/>
        </p:nvSpPr>
        <p:spPr>
          <a:xfrm>
            <a:off x="3749040" y="4901184"/>
            <a:ext cx="146304" cy="146304"/>
          </a:xfrm>
          <a:prstGeom prst="ellipse">
            <a:avLst/>
          </a:prstGeom>
          <a:solidFill>
            <a:srgbClr val="9C7A3C"/>
          </a:solidFill>
          <a:ln/>
        </p:spPr>
      </p:sp>
      <p:sp>
        <p:nvSpPr>
          <p:cNvPr id="16" name="Text 14"/>
          <p:cNvSpPr/>
          <p:nvPr/>
        </p:nvSpPr>
        <p:spPr>
          <a:xfrm>
            <a:off x="4069080" y="4773168"/>
            <a:ext cx="7498080" cy="320040"/>
          </a:xfrm>
          <a:prstGeom prst="rect">
            <a:avLst/>
          </a:prstGeom>
          <a:noFill/>
          <a:ln/>
        </p:spPr>
        <p:txBody>
          <a:bodyPr wrap="square" rtlCol="0" anchor="ctr"/>
          <a:lstStyle/>
          <a:p>
            <a:pPr indent="0" marL="0">
              <a:buNone/>
            </a:pPr>
            <a:r>
              <a:rPr lang="en-US" sz="1500" b="1" dirty="0">
                <a:solidFill>
                  <a:srgbClr val="1E1E1E"/>
                </a:solidFill>
                <a:latin typeface="Calibri" pitchFamily="34" charset="0"/>
                <a:ea typeface="Calibri" pitchFamily="34" charset="-122"/>
                <a:cs typeface="Calibri" pitchFamily="34" charset="-120"/>
              </a:rPr>
              <a:t>Faible concurrence directe</a:t>
            </a:r>
            <a:endParaRPr lang="en-US" sz="1500" dirty="0"/>
          </a:p>
        </p:txBody>
      </p:sp>
      <p:sp>
        <p:nvSpPr>
          <p:cNvPr id="17" name="Text 15"/>
          <p:cNvSpPr/>
          <p:nvPr/>
        </p:nvSpPr>
        <p:spPr>
          <a:xfrm>
            <a:off x="4069080" y="5093208"/>
            <a:ext cx="7498080" cy="457200"/>
          </a:xfrm>
          <a:prstGeom prst="rect">
            <a:avLst/>
          </a:prstGeom>
          <a:noFill/>
          <a:ln/>
        </p:spPr>
        <p:txBody>
          <a:bodyPr wrap="square" rtlCol="0" anchor="ctr"/>
          <a:lstStyle/>
          <a:p>
            <a:pPr indent="0" marL="0">
              <a:buNone/>
            </a:pPr>
            <a:r>
              <a:rPr lang="en-US" sz="1250" dirty="0">
                <a:solidFill>
                  <a:srgbClr val="6B6B6B"/>
                </a:solidFill>
                <a:latin typeface="Calibri" pitchFamily="34" charset="0"/>
                <a:ea typeface="Calibri" pitchFamily="34" charset="-122"/>
                <a:cs typeface="Calibri" pitchFamily="34" charset="-120"/>
              </a:rPr>
              <a:t>Peu d'ateliers positionnés haut de gamme sur la Rive-Sud.</a:t>
            </a:r>
            <a:endParaRPr lang="en-US" sz="1250" dirty="0"/>
          </a:p>
        </p:txBody>
      </p:sp>
      <p:sp>
        <p:nvSpPr>
          <p:cNvPr id="18" name="Text 16"/>
          <p:cNvSpPr/>
          <p:nvPr/>
        </p:nvSpPr>
        <p:spPr>
          <a:xfrm>
            <a:off x="457200" y="6510528"/>
            <a:ext cx="5486400" cy="274320"/>
          </a:xfrm>
          <a:prstGeom prst="rect">
            <a:avLst/>
          </a:prstGeom>
          <a:noFill/>
          <a:ln/>
        </p:spPr>
        <p:txBody>
          <a:bodyPr wrap="square" rtlCol="0" anchor="ctr"/>
          <a:lstStyle/>
          <a:p>
            <a:pPr algn="l" indent="0" marL="0">
              <a:buNone/>
            </a:pPr>
            <a:r>
              <a:rPr lang="en-US" sz="900" dirty="0">
                <a:solidFill>
                  <a:srgbClr val="A9A9A9"/>
                </a:solidFill>
                <a:latin typeface="Calibri" pitchFamily="34" charset="0"/>
                <a:ea typeface="Calibri" pitchFamily="34" charset="-122"/>
                <a:cs typeface="Calibri" pitchFamily="34" charset="-120"/>
              </a:rPr>
              <a:t>Boutique Tailleur Mark 109</a:t>
            </a:r>
            <a:endParaRPr lang="en-US" sz="900" dirty="0"/>
          </a:p>
        </p:txBody>
      </p:sp>
      <p:sp>
        <p:nvSpPr>
          <p:cNvPr id="19" name="Text 17"/>
          <p:cNvSpPr/>
          <p:nvPr/>
        </p:nvSpPr>
        <p:spPr>
          <a:xfrm>
            <a:off x="11338560" y="6510528"/>
            <a:ext cx="365760" cy="274320"/>
          </a:xfrm>
          <a:prstGeom prst="rect">
            <a:avLst/>
          </a:prstGeom>
          <a:noFill/>
          <a:ln/>
        </p:spPr>
        <p:txBody>
          <a:bodyPr wrap="square" rtlCol="0" anchor="ctr"/>
          <a:lstStyle/>
          <a:p>
            <a:pPr algn="r" indent="0" marL="0">
              <a:buNone/>
            </a:pPr>
            <a:r>
              <a:rPr lang="en-US" sz="900" dirty="0">
                <a:solidFill>
                  <a:srgbClr val="A9A9A9"/>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1E1E"/>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C9A96A"/>
                </a:solidFill>
                <a:latin typeface="Calibri" pitchFamily="34" charset="0"/>
                <a:ea typeface="Calibri" pitchFamily="34" charset="-122"/>
                <a:cs typeface="Calibri" pitchFamily="34" charset="-120"/>
              </a:rPr>
              <a:t>CONSTAT</a:t>
            </a:r>
            <a:endParaRPr lang="en-US" sz="1300" dirty="0"/>
          </a:p>
        </p:txBody>
      </p:sp>
      <p:sp>
        <p:nvSpPr>
          <p:cNvPr id="3" name="Text 1"/>
          <p:cNvSpPr/>
          <p:nvPr/>
        </p:nvSpPr>
        <p:spPr>
          <a:xfrm>
            <a:off x="548640" y="713232"/>
            <a:ext cx="10515600" cy="82296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Ce qui freine la perception de valeur</a:t>
            </a:r>
            <a:endParaRPr lang="en-US" sz="3000" dirty="0"/>
          </a:p>
        </p:txBody>
      </p:sp>
      <p:sp>
        <p:nvSpPr>
          <p:cNvPr id="4" name="Shape 2"/>
          <p:cNvSpPr/>
          <p:nvPr/>
        </p:nvSpPr>
        <p:spPr>
          <a:xfrm>
            <a:off x="548640" y="1828800"/>
            <a:ext cx="2121408" cy="3566160"/>
          </a:xfrm>
          <a:prstGeom prst="roundRect">
            <a:avLst>
              <a:gd name="adj" fmla="val 3448"/>
            </a:avLst>
          </a:prstGeom>
          <a:solidFill>
            <a:srgbClr val="2B2B2B"/>
          </a:solidFill>
          <a:ln w="9525">
            <a:solidFill>
              <a:srgbClr val="3A3A3A"/>
            </a:solidFill>
            <a:prstDash val="solid"/>
          </a:ln>
        </p:spPr>
      </p:sp>
      <p:sp>
        <p:nvSpPr>
          <p:cNvPr id="5" name="Text 3"/>
          <p:cNvSpPr/>
          <p:nvPr/>
        </p:nvSpPr>
        <p:spPr>
          <a:xfrm>
            <a:off x="713232" y="2029968"/>
            <a:ext cx="1792224" cy="365760"/>
          </a:xfrm>
          <a:prstGeom prst="rect">
            <a:avLst/>
          </a:prstGeom>
          <a:noFill/>
          <a:ln/>
        </p:spPr>
        <p:txBody>
          <a:bodyPr wrap="square" rtlCol="0" anchor="ctr"/>
          <a:lstStyle/>
          <a:p>
            <a:pPr indent="0" marL="0">
              <a:buNone/>
            </a:pPr>
            <a:r>
              <a:rPr lang="en-US" sz="1800" b="1" dirty="0">
                <a:solidFill>
                  <a:srgbClr val="C9A96A"/>
                </a:solidFill>
                <a:latin typeface="Cambria" pitchFamily="34" charset="0"/>
                <a:ea typeface="Cambria" pitchFamily="34" charset="-122"/>
                <a:cs typeface="Cambria" pitchFamily="34" charset="-120"/>
              </a:rPr>
              <a:t>01</a:t>
            </a:r>
            <a:endParaRPr lang="en-US" sz="1800" dirty="0"/>
          </a:p>
        </p:txBody>
      </p:sp>
      <p:sp>
        <p:nvSpPr>
          <p:cNvPr id="6" name="Text 4"/>
          <p:cNvSpPr/>
          <p:nvPr/>
        </p:nvSpPr>
        <p:spPr>
          <a:xfrm>
            <a:off x="713232" y="2514600"/>
            <a:ext cx="1792224" cy="91440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Site — dépliant générique</a:t>
            </a:r>
            <a:endParaRPr lang="en-US" sz="1350" dirty="0"/>
          </a:p>
        </p:txBody>
      </p:sp>
      <p:sp>
        <p:nvSpPr>
          <p:cNvPr id="7" name="Text 5"/>
          <p:cNvSpPr/>
          <p:nvPr/>
        </p:nvSpPr>
        <p:spPr>
          <a:xfrm>
            <a:off x="713232" y="3429000"/>
            <a:ext cx="1792224" cy="1737360"/>
          </a:xfrm>
          <a:prstGeom prst="rect">
            <a:avLst/>
          </a:prstGeom>
          <a:noFill/>
          <a:ln/>
        </p:spPr>
        <p:txBody>
          <a:bodyPr wrap="square" rtlCol="0" anchor="ctr"/>
          <a:lstStyle/>
          <a:p>
            <a:pPr indent="0" marL="0">
              <a:buNone/>
            </a:pPr>
            <a:r>
              <a:rPr lang="en-US" sz="1100" dirty="0">
                <a:solidFill>
                  <a:srgbClr val="C7C7C7"/>
                </a:solidFill>
                <a:latin typeface="Calibri" pitchFamily="34" charset="0"/>
                <a:ea typeface="Calibri" pitchFamily="34" charset="-122"/>
                <a:cs typeface="Calibri" pitchFamily="34" charset="-120"/>
              </a:rPr>
              <a:t>Formulaire de contact standard, aucun système de rendez-vous.</a:t>
            </a:r>
            <a:endParaRPr lang="en-US" sz="1100" dirty="0"/>
          </a:p>
        </p:txBody>
      </p:sp>
      <p:sp>
        <p:nvSpPr>
          <p:cNvPr id="8" name="Shape 6"/>
          <p:cNvSpPr/>
          <p:nvPr/>
        </p:nvSpPr>
        <p:spPr>
          <a:xfrm>
            <a:off x="2834640" y="1828800"/>
            <a:ext cx="2121408" cy="3566160"/>
          </a:xfrm>
          <a:prstGeom prst="roundRect">
            <a:avLst>
              <a:gd name="adj" fmla="val 3448"/>
            </a:avLst>
          </a:prstGeom>
          <a:solidFill>
            <a:srgbClr val="2B2B2B"/>
          </a:solidFill>
          <a:ln w="9525">
            <a:solidFill>
              <a:srgbClr val="3A3A3A"/>
            </a:solidFill>
            <a:prstDash val="solid"/>
          </a:ln>
        </p:spPr>
      </p:sp>
      <p:sp>
        <p:nvSpPr>
          <p:cNvPr id="9" name="Text 7"/>
          <p:cNvSpPr/>
          <p:nvPr/>
        </p:nvSpPr>
        <p:spPr>
          <a:xfrm>
            <a:off x="2999232" y="2029968"/>
            <a:ext cx="1792224" cy="365760"/>
          </a:xfrm>
          <a:prstGeom prst="rect">
            <a:avLst/>
          </a:prstGeom>
          <a:noFill/>
          <a:ln/>
        </p:spPr>
        <p:txBody>
          <a:bodyPr wrap="square" rtlCol="0" anchor="ctr"/>
          <a:lstStyle/>
          <a:p>
            <a:pPr indent="0" marL="0">
              <a:buNone/>
            </a:pPr>
            <a:r>
              <a:rPr lang="en-US" sz="1800" b="1" dirty="0">
                <a:solidFill>
                  <a:srgbClr val="C9A96A"/>
                </a:solidFill>
                <a:latin typeface="Cambria" pitchFamily="34" charset="0"/>
                <a:ea typeface="Cambria" pitchFamily="34" charset="-122"/>
                <a:cs typeface="Cambria" pitchFamily="34" charset="-120"/>
              </a:rPr>
              <a:t>02</a:t>
            </a:r>
            <a:endParaRPr lang="en-US" sz="1800" dirty="0"/>
          </a:p>
        </p:txBody>
      </p:sp>
      <p:sp>
        <p:nvSpPr>
          <p:cNvPr id="10" name="Text 8"/>
          <p:cNvSpPr/>
          <p:nvPr/>
        </p:nvSpPr>
        <p:spPr>
          <a:xfrm>
            <a:off x="2999232" y="2514600"/>
            <a:ext cx="1792224" cy="91440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Aucun signal d'exclusivité</a:t>
            </a:r>
            <a:endParaRPr lang="en-US" sz="1350" dirty="0"/>
          </a:p>
        </p:txBody>
      </p:sp>
      <p:sp>
        <p:nvSpPr>
          <p:cNvPr id="11" name="Text 9"/>
          <p:cNvSpPr/>
          <p:nvPr/>
        </p:nvSpPr>
        <p:spPr>
          <a:xfrm>
            <a:off x="2999232" y="3429000"/>
            <a:ext cx="1792224" cy="1737360"/>
          </a:xfrm>
          <a:prstGeom prst="rect">
            <a:avLst/>
          </a:prstGeom>
          <a:noFill/>
          <a:ln/>
        </p:spPr>
        <p:txBody>
          <a:bodyPr wrap="square" rtlCol="0" anchor="ctr"/>
          <a:lstStyle/>
          <a:p>
            <a:pPr indent="0" marL="0">
              <a:buNone/>
            </a:pPr>
            <a:r>
              <a:rPr lang="en-US" sz="1100" dirty="0">
                <a:solidFill>
                  <a:srgbClr val="C7C7C7"/>
                </a:solidFill>
                <a:latin typeface="Calibri" pitchFamily="34" charset="0"/>
                <a:ea typeface="Calibri" pitchFamily="34" charset="-122"/>
                <a:cs typeface="Calibri" pitchFamily="34" charset="-120"/>
              </a:rPr>
              <a:t>Rien n'indique un fonctionnement sur rendez-vous uniquement.</a:t>
            </a:r>
            <a:endParaRPr lang="en-US" sz="1100" dirty="0"/>
          </a:p>
        </p:txBody>
      </p:sp>
      <p:sp>
        <p:nvSpPr>
          <p:cNvPr id="12" name="Shape 10"/>
          <p:cNvSpPr/>
          <p:nvPr/>
        </p:nvSpPr>
        <p:spPr>
          <a:xfrm>
            <a:off x="5120640" y="1828800"/>
            <a:ext cx="2121408" cy="3566160"/>
          </a:xfrm>
          <a:prstGeom prst="roundRect">
            <a:avLst>
              <a:gd name="adj" fmla="val 3448"/>
            </a:avLst>
          </a:prstGeom>
          <a:solidFill>
            <a:srgbClr val="2B2B2B"/>
          </a:solidFill>
          <a:ln w="9525">
            <a:solidFill>
              <a:srgbClr val="3A3A3A"/>
            </a:solidFill>
            <a:prstDash val="solid"/>
          </a:ln>
        </p:spPr>
      </p:sp>
      <p:sp>
        <p:nvSpPr>
          <p:cNvPr id="13" name="Text 11"/>
          <p:cNvSpPr/>
          <p:nvPr/>
        </p:nvSpPr>
        <p:spPr>
          <a:xfrm>
            <a:off x="5285232" y="2029968"/>
            <a:ext cx="1792224" cy="365760"/>
          </a:xfrm>
          <a:prstGeom prst="rect">
            <a:avLst/>
          </a:prstGeom>
          <a:noFill/>
          <a:ln/>
        </p:spPr>
        <p:txBody>
          <a:bodyPr wrap="square" rtlCol="0" anchor="ctr"/>
          <a:lstStyle/>
          <a:p>
            <a:pPr indent="0" marL="0">
              <a:buNone/>
            </a:pPr>
            <a:r>
              <a:rPr lang="en-US" sz="1800" b="1" dirty="0">
                <a:solidFill>
                  <a:srgbClr val="C9A96A"/>
                </a:solidFill>
                <a:latin typeface="Cambria" pitchFamily="34" charset="0"/>
                <a:ea typeface="Cambria" pitchFamily="34" charset="-122"/>
                <a:cs typeface="Cambria" pitchFamily="34" charset="-120"/>
              </a:rPr>
              <a:t>03</a:t>
            </a:r>
            <a:endParaRPr lang="en-US" sz="1800" dirty="0"/>
          </a:p>
        </p:txBody>
      </p:sp>
      <p:sp>
        <p:nvSpPr>
          <p:cNvPr id="14" name="Text 12"/>
          <p:cNvSpPr/>
          <p:nvPr/>
        </p:nvSpPr>
        <p:spPr>
          <a:xfrm>
            <a:off x="5285232" y="2514600"/>
            <a:ext cx="1792224" cy="91440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Aucun repère de prix</a:t>
            </a:r>
            <a:endParaRPr lang="en-US" sz="1350" dirty="0"/>
          </a:p>
        </p:txBody>
      </p:sp>
      <p:sp>
        <p:nvSpPr>
          <p:cNvPr id="15" name="Text 13"/>
          <p:cNvSpPr/>
          <p:nvPr/>
        </p:nvSpPr>
        <p:spPr>
          <a:xfrm>
            <a:off x="5285232" y="3429000"/>
            <a:ext cx="1792224" cy="1737360"/>
          </a:xfrm>
          <a:prstGeom prst="rect">
            <a:avLst/>
          </a:prstGeom>
          <a:noFill/>
          <a:ln/>
        </p:spPr>
        <p:txBody>
          <a:bodyPr wrap="square" rtlCol="0" anchor="ctr"/>
          <a:lstStyle/>
          <a:p>
            <a:pPr indent="0" marL="0">
              <a:buNone/>
            </a:pPr>
            <a:r>
              <a:rPr lang="en-US" sz="1100" dirty="0">
                <a:solidFill>
                  <a:srgbClr val="C7C7C7"/>
                </a:solidFill>
                <a:latin typeface="Calibri" pitchFamily="34" charset="0"/>
                <a:ea typeface="Calibri" pitchFamily="34" charset="-122"/>
                <a:cs typeface="Calibri" pitchFamily="34" charset="-120"/>
              </a:rPr>
              <a:t>Le client ne peut pas se situer avant de contacter l'atelier.</a:t>
            </a:r>
            <a:endParaRPr lang="en-US" sz="1100" dirty="0"/>
          </a:p>
        </p:txBody>
      </p:sp>
      <p:sp>
        <p:nvSpPr>
          <p:cNvPr id="16" name="Shape 14"/>
          <p:cNvSpPr/>
          <p:nvPr/>
        </p:nvSpPr>
        <p:spPr>
          <a:xfrm>
            <a:off x="7406640" y="1828800"/>
            <a:ext cx="2121408" cy="3566160"/>
          </a:xfrm>
          <a:prstGeom prst="roundRect">
            <a:avLst>
              <a:gd name="adj" fmla="val 3448"/>
            </a:avLst>
          </a:prstGeom>
          <a:solidFill>
            <a:srgbClr val="2B2B2B"/>
          </a:solidFill>
          <a:ln w="9525">
            <a:solidFill>
              <a:srgbClr val="3A3A3A"/>
            </a:solidFill>
            <a:prstDash val="solid"/>
          </a:ln>
        </p:spPr>
      </p:sp>
      <p:sp>
        <p:nvSpPr>
          <p:cNvPr id="17" name="Text 15"/>
          <p:cNvSpPr/>
          <p:nvPr/>
        </p:nvSpPr>
        <p:spPr>
          <a:xfrm>
            <a:off x="7571232" y="2029968"/>
            <a:ext cx="1792224" cy="365760"/>
          </a:xfrm>
          <a:prstGeom prst="rect">
            <a:avLst/>
          </a:prstGeom>
          <a:noFill/>
          <a:ln/>
        </p:spPr>
        <p:txBody>
          <a:bodyPr wrap="square" rtlCol="0" anchor="ctr"/>
          <a:lstStyle/>
          <a:p>
            <a:pPr indent="0" marL="0">
              <a:buNone/>
            </a:pPr>
            <a:r>
              <a:rPr lang="en-US" sz="1800" b="1" dirty="0">
                <a:solidFill>
                  <a:srgbClr val="C9A96A"/>
                </a:solidFill>
                <a:latin typeface="Cambria" pitchFamily="34" charset="0"/>
                <a:ea typeface="Cambria" pitchFamily="34" charset="-122"/>
                <a:cs typeface="Cambria" pitchFamily="34" charset="-120"/>
              </a:rPr>
              <a:t>04</a:t>
            </a:r>
            <a:endParaRPr lang="en-US" sz="1800" dirty="0"/>
          </a:p>
        </p:txBody>
      </p:sp>
      <p:sp>
        <p:nvSpPr>
          <p:cNvPr id="18" name="Text 16"/>
          <p:cNvSpPr/>
          <p:nvPr/>
        </p:nvSpPr>
        <p:spPr>
          <a:xfrm>
            <a:off x="7571232" y="2514600"/>
            <a:ext cx="1792224" cy="91440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Présence limitée à Facebook</a:t>
            </a:r>
            <a:endParaRPr lang="en-US" sz="1350" dirty="0"/>
          </a:p>
        </p:txBody>
      </p:sp>
      <p:sp>
        <p:nvSpPr>
          <p:cNvPr id="19" name="Text 17"/>
          <p:cNvSpPr/>
          <p:nvPr/>
        </p:nvSpPr>
        <p:spPr>
          <a:xfrm>
            <a:off x="7571232" y="3429000"/>
            <a:ext cx="1792224" cy="1737360"/>
          </a:xfrm>
          <a:prstGeom prst="rect">
            <a:avLst/>
          </a:prstGeom>
          <a:noFill/>
          <a:ln/>
        </p:spPr>
        <p:txBody>
          <a:bodyPr wrap="square" rtlCol="0" anchor="ctr"/>
          <a:lstStyle/>
          <a:p>
            <a:pPr indent="0" marL="0">
              <a:buNone/>
            </a:pPr>
            <a:r>
              <a:rPr lang="en-US" sz="1100" dirty="0">
                <a:solidFill>
                  <a:srgbClr val="C7C7C7"/>
                </a:solidFill>
                <a:latin typeface="Calibri" pitchFamily="34" charset="0"/>
                <a:ea typeface="Calibri" pitchFamily="34" charset="-122"/>
                <a:cs typeface="Calibri" pitchFamily="34" charset="-120"/>
              </a:rPr>
              <a:t>La clientèle mode haut de gamme est avant tout sur Instagram.</a:t>
            </a:r>
            <a:endParaRPr lang="en-US" sz="1100" dirty="0"/>
          </a:p>
        </p:txBody>
      </p:sp>
      <p:sp>
        <p:nvSpPr>
          <p:cNvPr id="20" name="Shape 18"/>
          <p:cNvSpPr/>
          <p:nvPr/>
        </p:nvSpPr>
        <p:spPr>
          <a:xfrm>
            <a:off x="9692640" y="1828800"/>
            <a:ext cx="2121408" cy="3566160"/>
          </a:xfrm>
          <a:prstGeom prst="roundRect">
            <a:avLst>
              <a:gd name="adj" fmla="val 3448"/>
            </a:avLst>
          </a:prstGeom>
          <a:solidFill>
            <a:srgbClr val="2B2B2B"/>
          </a:solidFill>
          <a:ln w="9525">
            <a:solidFill>
              <a:srgbClr val="3A3A3A"/>
            </a:solidFill>
            <a:prstDash val="solid"/>
          </a:ln>
        </p:spPr>
      </p:sp>
      <p:sp>
        <p:nvSpPr>
          <p:cNvPr id="21" name="Text 19"/>
          <p:cNvSpPr/>
          <p:nvPr/>
        </p:nvSpPr>
        <p:spPr>
          <a:xfrm>
            <a:off x="9857232" y="2029968"/>
            <a:ext cx="1792224" cy="365760"/>
          </a:xfrm>
          <a:prstGeom prst="rect">
            <a:avLst/>
          </a:prstGeom>
          <a:noFill/>
          <a:ln/>
        </p:spPr>
        <p:txBody>
          <a:bodyPr wrap="square" rtlCol="0" anchor="ctr"/>
          <a:lstStyle/>
          <a:p>
            <a:pPr indent="0" marL="0">
              <a:buNone/>
            </a:pPr>
            <a:r>
              <a:rPr lang="en-US" sz="1800" b="1" dirty="0">
                <a:solidFill>
                  <a:srgbClr val="C9A96A"/>
                </a:solidFill>
                <a:latin typeface="Cambria" pitchFamily="34" charset="0"/>
                <a:ea typeface="Cambria" pitchFamily="34" charset="-122"/>
                <a:cs typeface="Cambria" pitchFamily="34" charset="-120"/>
              </a:rPr>
              <a:t>05</a:t>
            </a:r>
            <a:endParaRPr lang="en-US" sz="1800" dirty="0"/>
          </a:p>
        </p:txBody>
      </p:sp>
      <p:sp>
        <p:nvSpPr>
          <p:cNvPr id="22" name="Text 20"/>
          <p:cNvSpPr/>
          <p:nvPr/>
        </p:nvSpPr>
        <p:spPr>
          <a:xfrm>
            <a:off x="9857232" y="2514600"/>
            <a:ext cx="1792224" cy="91440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Clientèle prestigieuse invisible</a:t>
            </a:r>
            <a:endParaRPr lang="en-US" sz="1350" dirty="0"/>
          </a:p>
        </p:txBody>
      </p:sp>
      <p:sp>
        <p:nvSpPr>
          <p:cNvPr id="23" name="Text 21"/>
          <p:cNvSpPr/>
          <p:nvPr/>
        </p:nvSpPr>
        <p:spPr>
          <a:xfrm>
            <a:off x="9857232" y="3429000"/>
            <a:ext cx="1792224" cy="1737360"/>
          </a:xfrm>
          <a:prstGeom prst="rect">
            <a:avLst/>
          </a:prstGeom>
          <a:noFill/>
          <a:ln/>
        </p:spPr>
        <p:txBody>
          <a:bodyPr wrap="square" rtlCol="0" anchor="ctr"/>
          <a:lstStyle/>
          <a:p>
            <a:pPr indent="0" marL="0">
              <a:buNone/>
            </a:pPr>
            <a:r>
              <a:rPr lang="en-US" sz="1100" dirty="0">
                <a:solidFill>
                  <a:srgbClr val="C7C7C7"/>
                </a:solidFill>
                <a:latin typeface="Calibri" pitchFamily="34" charset="0"/>
                <a:ea typeface="Calibri" pitchFamily="34" charset="-122"/>
                <a:cs typeface="Calibri" pitchFamily="34" charset="-120"/>
              </a:rPr>
              <a:t>Aucun témoignage, aucune preuve sociale mise en valeur.</a:t>
            </a:r>
            <a:endParaRPr lang="en-US" sz="1100" dirty="0"/>
          </a:p>
        </p:txBody>
      </p:sp>
      <p:sp>
        <p:nvSpPr>
          <p:cNvPr id="24" name="Text 22"/>
          <p:cNvSpPr/>
          <p:nvPr/>
        </p:nvSpPr>
        <p:spPr>
          <a:xfrm>
            <a:off x="457200" y="6510528"/>
            <a:ext cx="5486400" cy="274320"/>
          </a:xfrm>
          <a:prstGeom prst="rect">
            <a:avLst/>
          </a:prstGeom>
          <a:noFill/>
          <a:ln/>
        </p:spPr>
        <p:txBody>
          <a:bodyPr wrap="square" rtlCol="0" anchor="ctr"/>
          <a:lstStyle/>
          <a:p>
            <a:pPr algn="l" indent="0" marL="0">
              <a:buNone/>
            </a:pPr>
            <a:r>
              <a:rPr lang="en-US" sz="900" dirty="0">
                <a:solidFill>
                  <a:srgbClr val="8A8A8A"/>
                </a:solidFill>
                <a:latin typeface="Calibri" pitchFamily="34" charset="0"/>
                <a:ea typeface="Calibri" pitchFamily="34" charset="-122"/>
                <a:cs typeface="Calibri" pitchFamily="34" charset="-120"/>
              </a:rPr>
              <a:t>Boutique Tailleur Mark 109</a:t>
            </a:r>
            <a:endParaRPr lang="en-US" sz="900" dirty="0"/>
          </a:p>
        </p:txBody>
      </p:sp>
      <p:sp>
        <p:nvSpPr>
          <p:cNvPr id="25" name="Text 23"/>
          <p:cNvSpPr/>
          <p:nvPr/>
        </p:nvSpPr>
        <p:spPr>
          <a:xfrm>
            <a:off x="11338560" y="6510528"/>
            <a:ext cx="365760" cy="274320"/>
          </a:xfrm>
          <a:prstGeom prst="rect">
            <a:avLst/>
          </a:prstGeom>
          <a:noFill/>
          <a:ln/>
        </p:spPr>
        <p:txBody>
          <a:bodyPr wrap="square"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9C7A3C"/>
                </a:solidFill>
                <a:latin typeface="Calibri" pitchFamily="34" charset="0"/>
                <a:ea typeface="Calibri" pitchFamily="34" charset="-122"/>
                <a:cs typeface="Calibri" pitchFamily="34" charset="-120"/>
              </a:rPr>
              <a:t>BENCHMARK</a:t>
            </a:r>
            <a:endParaRPr lang="en-US" sz="1300" dirty="0"/>
          </a:p>
        </p:txBody>
      </p:sp>
      <p:sp>
        <p:nvSpPr>
          <p:cNvPr id="3" name="Text 1"/>
          <p:cNvSpPr/>
          <p:nvPr/>
        </p:nvSpPr>
        <p:spPr>
          <a:xfrm>
            <a:off x="548640" y="713232"/>
            <a:ext cx="10515600" cy="822960"/>
          </a:xfrm>
          <a:prstGeom prst="rect">
            <a:avLst/>
          </a:prstGeom>
          <a:noFill/>
          <a:ln/>
        </p:spPr>
        <p:txBody>
          <a:bodyPr wrap="square" rtlCol="0" anchor="ctr"/>
          <a:lstStyle/>
          <a:p>
            <a:pPr indent="0" marL="0">
              <a:buNone/>
            </a:pPr>
            <a:r>
              <a:rPr lang="en-US" sz="3000" b="1" dirty="0">
                <a:solidFill>
                  <a:srgbClr val="1E1E1E"/>
                </a:solidFill>
                <a:latin typeface="Cambria" pitchFamily="34" charset="0"/>
                <a:ea typeface="Cambria" pitchFamily="34" charset="-122"/>
                <a:cs typeface="Cambria" pitchFamily="34" charset="-120"/>
              </a:rPr>
              <a:t>Comment se positionnent les ateliers de référence à Montréal</a:t>
            </a:r>
            <a:endParaRPr lang="en-US" sz="3000" dirty="0"/>
          </a:p>
        </p:txBody>
      </p:sp>
      <p:sp>
        <p:nvSpPr>
          <p:cNvPr id="4" name="Shape 2"/>
          <p:cNvSpPr/>
          <p:nvPr/>
        </p:nvSpPr>
        <p:spPr>
          <a:xfrm>
            <a:off x="548640" y="2057400"/>
            <a:ext cx="11064240" cy="548640"/>
          </a:xfrm>
          <a:prstGeom prst="rect">
            <a:avLst/>
          </a:prstGeom>
          <a:solidFill>
            <a:srgbClr val="1E1E1E"/>
          </a:solidFill>
          <a:ln/>
        </p:spPr>
      </p:sp>
      <p:sp>
        <p:nvSpPr>
          <p:cNvPr id="5" name="Text 3"/>
          <p:cNvSpPr/>
          <p:nvPr/>
        </p:nvSpPr>
        <p:spPr>
          <a:xfrm>
            <a:off x="548640" y="2057400"/>
            <a:ext cx="2148840" cy="548640"/>
          </a:xfrm>
          <a:prstGeom prst="rect">
            <a:avLst/>
          </a:prstGeom>
          <a:noFill/>
          <a:ln/>
        </p:spPr>
        <p:txBody>
          <a:bodyPr wrap="square" rtlCol="0" anchor="ctr"/>
          <a:lstStyle/>
          <a:p>
            <a:pPr indent="0" marL="0">
              <a:buNone/>
            </a:pPr>
            <a:endParaRPr lang="en-US" sz="1200" dirty="0"/>
          </a:p>
        </p:txBody>
      </p:sp>
      <p:sp>
        <p:nvSpPr>
          <p:cNvPr id="6" name="Text 4"/>
          <p:cNvSpPr/>
          <p:nvPr/>
        </p:nvSpPr>
        <p:spPr>
          <a:xfrm>
            <a:off x="2834640" y="2057400"/>
            <a:ext cx="2514600" cy="548640"/>
          </a:xfrm>
          <a:prstGeom prst="rect">
            <a:avLst/>
          </a:prstGeom>
          <a:noFill/>
          <a:ln/>
        </p:spPr>
        <p:txBody>
          <a:bodyPr wrap="square" rtlCol="0" anchor="ctr"/>
          <a:lstStyle/>
          <a:p>
            <a:pPr indent="0" marL="0">
              <a:buNone/>
            </a:pPr>
            <a:r>
              <a:rPr lang="en-US" sz="1200" b="1" dirty="0">
                <a:solidFill>
                  <a:srgbClr val="C9A96A"/>
                </a:solidFill>
                <a:latin typeface="Calibri" pitchFamily="34" charset="0"/>
                <a:ea typeface="Calibri" pitchFamily="34" charset="-122"/>
                <a:cs typeface="Calibri" pitchFamily="34" charset="-120"/>
              </a:rPr>
              <a:t>Mark 109 (actuel)</a:t>
            </a:r>
            <a:endParaRPr lang="en-US" sz="1200" dirty="0"/>
          </a:p>
        </p:txBody>
      </p:sp>
      <p:sp>
        <p:nvSpPr>
          <p:cNvPr id="7" name="Text 5"/>
          <p:cNvSpPr/>
          <p:nvPr/>
        </p:nvSpPr>
        <p:spPr>
          <a:xfrm>
            <a:off x="5532120" y="2057400"/>
            <a:ext cx="2514600" cy="5486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Maison Cloakroom</a:t>
            </a:r>
            <a:endParaRPr lang="en-US" sz="1200" dirty="0"/>
          </a:p>
        </p:txBody>
      </p:sp>
      <p:sp>
        <p:nvSpPr>
          <p:cNvPr id="8" name="Text 6"/>
          <p:cNvSpPr/>
          <p:nvPr/>
        </p:nvSpPr>
        <p:spPr>
          <a:xfrm>
            <a:off x="8229600" y="2057400"/>
            <a:ext cx="1783080" cy="5486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Tailleur Prestige</a:t>
            </a:r>
            <a:endParaRPr lang="en-US" sz="1200" dirty="0"/>
          </a:p>
        </p:txBody>
      </p:sp>
      <p:sp>
        <p:nvSpPr>
          <p:cNvPr id="9" name="Text 7"/>
          <p:cNvSpPr/>
          <p:nvPr/>
        </p:nvSpPr>
        <p:spPr>
          <a:xfrm>
            <a:off x="10195560" y="2057400"/>
            <a:ext cx="1828800" cy="5486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Sartorialto</a:t>
            </a:r>
            <a:endParaRPr lang="en-US" sz="1200" dirty="0"/>
          </a:p>
        </p:txBody>
      </p:sp>
      <p:sp>
        <p:nvSpPr>
          <p:cNvPr id="10" name="Text 8"/>
          <p:cNvSpPr/>
          <p:nvPr/>
        </p:nvSpPr>
        <p:spPr>
          <a:xfrm>
            <a:off x="548640" y="2606040"/>
            <a:ext cx="2148840" cy="777240"/>
          </a:xfrm>
          <a:prstGeom prst="rect">
            <a:avLst/>
          </a:prstGeom>
          <a:noFill/>
          <a:ln/>
        </p:spPr>
        <p:txBody>
          <a:bodyPr wrap="square" rtlCol="0" anchor="ctr"/>
          <a:lstStyle/>
          <a:p>
            <a:pPr indent="0" marL="0">
              <a:buNone/>
            </a:pPr>
            <a:r>
              <a:rPr lang="en-US" sz="1150" b="1" dirty="0">
                <a:solidFill>
                  <a:srgbClr val="1E1E1E"/>
                </a:solidFill>
                <a:latin typeface="Calibri" pitchFamily="34" charset="0"/>
                <a:ea typeface="Calibri" pitchFamily="34" charset="-122"/>
                <a:cs typeface="Calibri" pitchFamily="34" charset="-120"/>
              </a:rPr>
              <a:t>Prise de contact</a:t>
            </a:r>
            <a:endParaRPr lang="en-US" sz="1150" dirty="0"/>
          </a:p>
        </p:txBody>
      </p:sp>
      <p:sp>
        <p:nvSpPr>
          <p:cNvPr id="11" name="Text 9"/>
          <p:cNvSpPr/>
          <p:nvPr/>
        </p:nvSpPr>
        <p:spPr>
          <a:xfrm>
            <a:off x="2834640" y="2606040"/>
            <a:ext cx="2514600" cy="777240"/>
          </a:xfrm>
          <a:prstGeom prst="rect">
            <a:avLst/>
          </a:prstGeom>
          <a:noFill/>
          <a:ln/>
        </p:spPr>
        <p:txBody>
          <a:bodyPr wrap="square" rtlCol="0" anchor="ctr"/>
          <a:lstStyle/>
          <a:p>
            <a:pPr indent="0" marL="0">
              <a:buNone/>
            </a:pPr>
            <a:r>
              <a:rPr lang="en-US" sz="1150" b="1" dirty="0">
                <a:solidFill>
                  <a:srgbClr val="9C7A3C"/>
                </a:solidFill>
                <a:latin typeface="Calibri" pitchFamily="34" charset="0"/>
                <a:ea typeface="Calibri" pitchFamily="34" charset="-122"/>
                <a:cs typeface="Calibri" pitchFamily="34" charset="-120"/>
              </a:rPr>
              <a:t>Formulaire générique</a:t>
            </a:r>
            <a:endParaRPr lang="en-US" sz="1150" dirty="0"/>
          </a:p>
        </p:txBody>
      </p:sp>
      <p:sp>
        <p:nvSpPr>
          <p:cNvPr id="12" name="Text 10"/>
          <p:cNvSpPr/>
          <p:nvPr/>
        </p:nvSpPr>
        <p:spPr>
          <a:xfrm>
            <a:off x="5532120" y="2606040"/>
            <a:ext cx="2514600" cy="777240"/>
          </a:xfrm>
          <a:prstGeom prst="rect">
            <a:avLst/>
          </a:prstGeom>
          <a:noFill/>
          <a:ln/>
        </p:spPr>
        <p:txBody>
          <a:bodyPr wrap="square" rtlCol="0" anchor="ctr"/>
          <a:lstStyle/>
          <a:p>
            <a:pPr indent="0" marL="0">
              <a:buNone/>
            </a:pPr>
            <a:r>
              <a:rPr lang="en-US" sz="1150" dirty="0">
                <a:solidFill>
                  <a:srgbClr val="1E1E1E"/>
                </a:solidFill>
                <a:latin typeface="Calibri" pitchFamily="34" charset="0"/>
                <a:ea typeface="Calibri" pitchFamily="34" charset="-122"/>
                <a:cs typeface="Calibri" pitchFamily="34" charset="-120"/>
              </a:rPr>
              <a:t>Réservation en ligne</a:t>
            </a:r>
            <a:endParaRPr lang="en-US" sz="1150" dirty="0"/>
          </a:p>
        </p:txBody>
      </p:sp>
      <p:sp>
        <p:nvSpPr>
          <p:cNvPr id="13" name="Text 11"/>
          <p:cNvSpPr/>
          <p:nvPr/>
        </p:nvSpPr>
        <p:spPr>
          <a:xfrm>
            <a:off x="8229600" y="2606040"/>
            <a:ext cx="1783080" cy="777240"/>
          </a:xfrm>
          <a:prstGeom prst="rect">
            <a:avLst/>
          </a:prstGeom>
          <a:noFill/>
          <a:ln/>
        </p:spPr>
        <p:txBody>
          <a:bodyPr wrap="square" rtlCol="0" anchor="ctr"/>
          <a:lstStyle/>
          <a:p>
            <a:pPr indent="0" marL="0">
              <a:buNone/>
            </a:pPr>
            <a:r>
              <a:rPr lang="en-US" sz="1150" dirty="0">
                <a:solidFill>
                  <a:srgbClr val="1E1E1E"/>
                </a:solidFill>
                <a:latin typeface="Calibri" pitchFamily="34" charset="0"/>
                <a:ea typeface="Calibri" pitchFamily="34" charset="-122"/>
                <a:cs typeface="Calibri" pitchFamily="34" charset="-120"/>
              </a:rPr>
              <a:t>« Réserver ma consultation »</a:t>
            </a:r>
            <a:endParaRPr lang="en-US" sz="1150" dirty="0"/>
          </a:p>
        </p:txBody>
      </p:sp>
      <p:sp>
        <p:nvSpPr>
          <p:cNvPr id="14" name="Text 12"/>
          <p:cNvSpPr/>
          <p:nvPr/>
        </p:nvSpPr>
        <p:spPr>
          <a:xfrm>
            <a:off x="10195560" y="2606040"/>
            <a:ext cx="1828800" cy="777240"/>
          </a:xfrm>
          <a:prstGeom prst="rect">
            <a:avLst/>
          </a:prstGeom>
          <a:noFill/>
          <a:ln/>
        </p:spPr>
        <p:txBody>
          <a:bodyPr wrap="square" rtlCol="0" anchor="ctr"/>
          <a:lstStyle/>
          <a:p>
            <a:pPr indent="0" marL="0">
              <a:buNone/>
            </a:pPr>
            <a:r>
              <a:rPr lang="en-US" sz="1150" dirty="0">
                <a:solidFill>
                  <a:srgbClr val="1E1E1E"/>
                </a:solidFill>
                <a:latin typeface="Calibri" pitchFamily="34" charset="0"/>
                <a:ea typeface="Calibri" pitchFamily="34" charset="-122"/>
                <a:cs typeface="Calibri" pitchFamily="34" charset="-120"/>
              </a:rPr>
              <a:t>Sur rendez-vous uniquement</a:t>
            </a:r>
            <a:endParaRPr lang="en-US" sz="1150" dirty="0"/>
          </a:p>
        </p:txBody>
      </p:sp>
      <p:sp>
        <p:nvSpPr>
          <p:cNvPr id="15" name="Shape 13"/>
          <p:cNvSpPr/>
          <p:nvPr/>
        </p:nvSpPr>
        <p:spPr>
          <a:xfrm>
            <a:off x="548640" y="3383280"/>
            <a:ext cx="11064240" cy="777240"/>
          </a:xfrm>
          <a:prstGeom prst="rect">
            <a:avLst/>
          </a:prstGeom>
          <a:solidFill>
            <a:srgbClr val="F4F4F4"/>
          </a:solidFill>
          <a:ln/>
        </p:spPr>
      </p:sp>
      <p:sp>
        <p:nvSpPr>
          <p:cNvPr id="16" name="Text 14"/>
          <p:cNvSpPr/>
          <p:nvPr/>
        </p:nvSpPr>
        <p:spPr>
          <a:xfrm>
            <a:off x="548640" y="3383280"/>
            <a:ext cx="2148840" cy="777240"/>
          </a:xfrm>
          <a:prstGeom prst="rect">
            <a:avLst/>
          </a:prstGeom>
          <a:noFill/>
          <a:ln/>
        </p:spPr>
        <p:txBody>
          <a:bodyPr wrap="square" rtlCol="0" anchor="ctr"/>
          <a:lstStyle/>
          <a:p>
            <a:pPr indent="0" marL="0">
              <a:buNone/>
            </a:pPr>
            <a:r>
              <a:rPr lang="en-US" sz="1150" b="1" dirty="0">
                <a:solidFill>
                  <a:srgbClr val="1E1E1E"/>
                </a:solidFill>
                <a:latin typeface="Calibri" pitchFamily="34" charset="0"/>
                <a:ea typeface="Calibri" pitchFamily="34" charset="-122"/>
                <a:cs typeface="Calibri" pitchFamily="34" charset="-120"/>
              </a:rPr>
              <a:t>Prix visibles</a:t>
            </a:r>
            <a:endParaRPr lang="en-US" sz="1150" dirty="0"/>
          </a:p>
        </p:txBody>
      </p:sp>
      <p:sp>
        <p:nvSpPr>
          <p:cNvPr id="17" name="Text 15"/>
          <p:cNvSpPr/>
          <p:nvPr/>
        </p:nvSpPr>
        <p:spPr>
          <a:xfrm>
            <a:off x="2834640" y="3383280"/>
            <a:ext cx="2514600" cy="777240"/>
          </a:xfrm>
          <a:prstGeom prst="rect">
            <a:avLst/>
          </a:prstGeom>
          <a:noFill/>
          <a:ln/>
        </p:spPr>
        <p:txBody>
          <a:bodyPr wrap="square" rtlCol="0" anchor="ctr"/>
          <a:lstStyle/>
          <a:p>
            <a:pPr indent="0" marL="0">
              <a:buNone/>
            </a:pPr>
            <a:r>
              <a:rPr lang="en-US" sz="1150" b="1" dirty="0">
                <a:solidFill>
                  <a:srgbClr val="9C7A3C"/>
                </a:solidFill>
                <a:latin typeface="Calibri" pitchFamily="34" charset="0"/>
                <a:ea typeface="Calibri" pitchFamily="34" charset="-122"/>
                <a:cs typeface="Calibri" pitchFamily="34" charset="-120"/>
              </a:rPr>
              <a:t>Aucun</a:t>
            </a:r>
            <a:endParaRPr lang="en-US" sz="1150" dirty="0"/>
          </a:p>
        </p:txBody>
      </p:sp>
      <p:sp>
        <p:nvSpPr>
          <p:cNvPr id="18" name="Text 16"/>
          <p:cNvSpPr/>
          <p:nvPr/>
        </p:nvSpPr>
        <p:spPr>
          <a:xfrm>
            <a:off x="5532120" y="3383280"/>
            <a:ext cx="2514600" cy="777240"/>
          </a:xfrm>
          <a:prstGeom prst="rect">
            <a:avLst/>
          </a:prstGeom>
          <a:noFill/>
          <a:ln/>
        </p:spPr>
        <p:txBody>
          <a:bodyPr wrap="square" rtlCol="0" anchor="ctr"/>
          <a:lstStyle/>
          <a:p>
            <a:pPr indent="0" marL="0">
              <a:buNone/>
            </a:pPr>
            <a:r>
              <a:rPr lang="en-US" sz="1150" dirty="0">
                <a:solidFill>
                  <a:srgbClr val="1E1E1E"/>
                </a:solidFill>
                <a:latin typeface="Calibri" pitchFamily="34" charset="0"/>
                <a:ea typeface="Calibri" pitchFamily="34" charset="-122"/>
                <a:cs typeface="Calibri" pitchFamily="34" charset="-120"/>
              </a:rPr>
              <a:t>3 paliers dès 1 695 $</a:t>
            </a:r>
            <a:endParaRPr lang="en-US" sz="1150" dirty="0"/>
          </a:p>
        </p:txBody>
      </p:sp>
      <p:sp>
        <p:nvSpPr>
          <p:cNvPr id="19" name="Text 17"/>
          <p:cNvSpPr/>
          <p:nvPr/>
        </p:nvSpPr>
        <p:spPr>
          <a:xfrm>
            <a:off x="8229600" y="3383280"/>
            <a:ext cx="1783080" cy="777240"/>
          </a:xfrm>
          <a:prstGeom prst="rect">
            <a:avLst/>
          </a:prstGeom>
          <a:noFill/>
          <a:ln/>
        </p:spPr>
        <p:txBody>
          <a:bodyPr wrap="square" rtlCol="0" anchor="ctr"/>
          <a:lstStyle/>
          <a:p>
            <a:pPr indent="0" marL="0">
              <a:buNone/>
            </a:pPr>
            <a:r>
              <a:rPr lang="en-US" sz="1150" dirty="0">
                <a:solidFill>
                  <a:srgbClr val="1E1E1E"/>
                </a:solidFill>
                <a:latin typeface="Calibri" pitchFamily="34" charset="0"/>
                <a:ea typeface="Calibri" pitchFamily="34" charset="-122"/>
                <a:cs typeface="Calibri" pitchFamily="34" charset="-120"/>
              </a:rPr>
              <a:t>Sur devis</a:t>
            </a:r>
            <a:endParaRPr lang="en-US" sz="1150" dirty="0"/>
          </a:p>
        </p:txBody>
      </p:sp>
      <p:sp>
        <p:nvSpPr>
          <p:cNvPr id="20" name="Text 18"/>
          <p:cNvSpPr/>
          <p:nvPr/>
        </p:nvSpPr>
        <p:spPr>
          <a:xfrm>
            <a:off x="10195560" y="3383280"/>
            <a:ext cx="1828800" cy="777240"/>
          </a:xfrm>
          <a:prstGeom prst="rect">
            <a:avLst/>
          </a:prstGeom>
          <a:noFill/>
          <a:ln/>
        </p:spPr>
        <p:txBody>
          <a:bodyPr wrap="square" rtlCol="0" anchor="ctr"/>
          <a:lstStyle/>
          <a:p>
            <a:pPr indent="0" marL="0">
              <a:buNone/>
            </a:pPr>
            <a:r>
              <a:rPr lang="en-US" sz="1150" dirty="0">
                <a:solidFill>
                  <a:srgbClr val="1E1E1E"/>
                </a:solidFill>
                <a:latin typeface="Calibri" pitchFamily="34" charset="0"/>
                <a:ea typeface="Calibri" pitchFamily="34" charset="-122"/>
                <a:cs typeface="Calibri" pitchFamily="34" charset="-120"/>
              </a:rPr>
              <a:t>Non affiché</a:t>
            </a:r>
            <a:endParaRPr lang="en-US" sz="1150" dirty="0"/>
          </a:p>
        </p:txBody>
      </p:sp>
      <p:sp>
        <p:nvSpPr>
          <p:cNvPr id="21" name="Text 19"/>
          <p:cNvSpPr/>
          <p:nvPr/>
        </p:nvSpPr>
        <p:spPr>
          <a:xfrm>
            <a:off x="548640" y="4160520"/>
            <a:ext cx="2148840" cy="777240"/>
          </a:xfrm>
          <a:prstGeom prst="rect">
            <a:avLst/>
          </a:prstGeom>
          <a:noFill/>
          <a:ln/>
        </p:spPr>
        <p:txBody>
          <a:bodyPr wrap="square" rtlCol="0" anchor="ctr"/>
          <a:lstStyle/>
          <a:p>
            <a:pPr indent="0" marL="0">
              <a:buNone/>
            </a:pPr>
            <a:r>
              <a:rPr lang="en-US" sz="1150" b="1" dirty="0">
                <a:solidFill>
                  <a:srgbClr val="1E1E1E"/>
                </a:solidFill>
                <a:latin typeface="Calibri" pitchFamily="34" charset="0"/>
                <a:ea typeface="Calibri" pitchFamily="34" charset="-122"/>
                <a:cs typeface="Calibri" pitchFamily="34" charset="-120"/>
              </a:rPr>
              <a:t>Instagram</a:t>
            </a:r>
            <a:endParaRPr lang="en-US" sz="1150" dirty="0"/>
          </a:p>
        </p:txBody>
      </p:sp>
      <p:sp>
        <p:nvSpPr>
          <p:cNvPr id="22" name="Text 20"/>
          <p:cNvSpPr/>
          <p:nvPr/>
        </p:nvSpPr>
        <p:spPr>
          <a:xfrm>
            <a:off x="2834640" y="4160520"/>
            <a:ext cx="2514600" cy="777240"/>
          </a:xfrm>
          <a:prstGeom prst="rect">
            <a:avLst/>
          </a:prstGeom>
          <a:noFill/>
          <a:ln/>
        </p:spPr>
        <p:txBody>
          <a:bodyPr wrap="square" rtlCol="0" anchor="ctr"/>
          <a:lstStyle/>
          <a:p>
            <a:pPr indent="0" marL="0">
              <a:buNone/>
            </a:pPr>
            <a:r>
              <a:rPr lang="en-US" sz="1150" b="1" dirty="0">
                <a:solidFill>
                  <a:srgbClr val="9C7A3C"/>
                </a:solidFill>
                <a:latin typeface="Calibri" pitchFamily="34" charset="0"/>
                <a:ea typeface="Calibri" pitchFamily="34" charset="-122"/>
                <a:cs typeface="Calibri" pitchFamily="34" charset="-120"/>
              </a:rPr>
              <a:t>Absent</a:t>
            </a:r>
            <a:endParaRPr lang="en-US" sz="1150" dirty="0"/>
          </a:p>
        </p:txBody>
      </p:sp>
      <p:sp>
        <p:nvSpPr>
          <p:cNvPr id="23" name="Text 21"/>
          <p:cNvSpPr/>
          <p:nvPr/>
        </p:nvSpPr>
        <p:spPr>
          <a:xfrm>
            <a:off x="5532120" y="4160520"/>
            <a:ext cx="2514600" cy="777240"/>
          </a:xfrm>
          <a:prstGeom prst="rect">
            <a:avLst/>
          </a:prstGeom>
          <a:noFill/>
          <a:ln/>
        </p:spPr>
        <p:txBody>
          <a:bodyPr wrap="square" rtlCol="0" anchor="ctr"/>
          <a:lstStyle/>
          <a:p>
            <a:pPr indent="0" marL="0">
              <a:buNone/>
            </a:pPr>
            <a:r>
              <a:rPr lang="en-US" sz="1150" dirty="0">
                <a:solidFill>
                  <a:srgbClr val="1E1E1E"/>
                </a:solidFill>
                <a:latin typeface="Calibri" pitchFamily="34" charset="0"/>
                <a:ea typeface="Calibri" pitchFamily="34" charset="-122"/>
                <a:cs typeface="Calibri" pitchFamily="34" charset="-120"/>
              </a:rPr>
              <a:t>Actif, fort</a:t>
            </a:r>
            <a:endParaRPr lang="en-US" sz="1150" dirty="0"/>
          </a:p>
        </p:txBody>
      </p:sp>
      <p:sp>
        <p:nvSpPr>
          <p:cNvPr id="24" name="Text 22"/>
          <p:cNvSpPr/>
          <p:nvPr/>
        </p:nvSpPr>
        <p:spPr>
          <a:xfrm>
            <a:off x="8229600" y="4160520"/>
            <a:ext cx="1783080" cy="777240"/>
          </a:xfrm>
          <a:prstGeom prst="rect">
            <a:avLst/>
          </a:prstGeom>
          <a:noFill/>
          <a:ln/>
        </p:spPr>
        <p:txBody>
          <a:bodyPr wrap="square" rtlCol="0" anchor="ctr"/>
          <a:lstStyle/>
          <a:p>
            <a:pPr indent="0" marL="0">
              <a:buNone/>
            </a:pPr>
            <a:r>
              <a:rPr lang="en-US" sz="1150" dirty="0">
                <a:solidFill>
                  <a:srgbClr val="1E1E1E"/>
                </a:solidFill>
                <a:latin typeface="Calibri" pitchFamily="34" charset="0"/>
                <a:ea typeface="Calibri" pitchFamily="34" charset="-122"/>
                <a:cs typeface="Calibri" pitchFamily="34" charset="-120"/>
              </a:rPr>
              <a:t>Actif</a:t>
            </a:r>
            <a:endParaRPr lang="en-US" sz="1150" dirty="0"/>
          </a:p>
        </p:txBody>
      </p:sp>
      <p:sp>
        <p:nvSpPr>
          <p:cNvPr id="25" name="Text 23"/>
          <p:cNvSpPr/>
          <p:nvPr/>
        </p:nvSpPr>
        <p:spPr>
          <a:xfrm>
            <a:off x="10195560" y="4160520"/>
            <a:ext cx="1828800" cy="777240"/>
          </a:xfrm>
          <a:prstGeom prst="rect">
            <a:avLst/>
          </a:prstGeom>
          <a:noFill/>
          <a:ln/>
        </p:spPr>
        <p:txBody>
          <a:bodyPr wrap="square" rtlCol="0" anchor="ctr"/>
          <a:lstStyle/>
          <a:p>
            <a:pPr indent="0" marL="0">
              <a:buNone/>
            </a:pPr>
            <a:r>
              <a:rPr lang="en-US" sz="1150" dirty="0">
                <a:solidFill>
                  <a:srgbClr val="1E1E1E"/>
                </a:solidFill>
                <a:latin typeface="Calibri" pitchFamily="34" charset="0"/>
                <a:ea typeface="Calibri" pitchFamily="34" charset="-122"/>
                <a:cs typeface="Calibri" pitchFamily="34" charset="-120"/>
              </a:rPr>
              <a:t>Discret</a:t>
            </a:r>
            <a:endParaRPr lang="en-US" sz="1150" dirty="0"/>
          </a:p>
        </p:txBody>
      </p:sp>
      <p:sp>
        <p:nvSpPr>
          <p:cNvPr id="26" name="Shape 24"/>
          <p:cNvSpPr/>
          <p:nvPr/>
        </p:nvSpPr>
        <p:spPr>
          <a:xfrm>
            <a:off x="548640" y="4937760"/>
            <a:ext cx="11064240" cy="777240"/>
          </a:xfrm>
          <a:prstGeom prst="rect">
            <a:avLst/>
          </a:prstGeom>
          <a:solidFill>
            <a:srgbClr val="F4F4F4"/>
          </a:solidFill>
          <a:ln/>
        </p:spPr>
      </p:sp>
      <p:sp>
        <p:nvSpPr>
          <p:cNvPr id="27" name="Text 25"/>
          <p:cNvSpPr/>
          <p:nvPr/>
        </p:nvSpPr>
        <p:spPr>
          <a:xfrm>
            <a:off x="548640" y="4937760"/>
            <a:ext cx="2148840" cy="777240"/>
          </a:xfrm>
          <a:prstGeom prst="rect">
            <a:avLst/>
          </a:prstGeom>
          <a:noFill/>
          <a:ln/>
        </p:spPr>
        <p:txBody>
          <a:bodyPr wrap="square" rtlCol="0" anchor="ctr"/>
          <a:lstStyle/>
          <a:p>
            <a:pPr indent="0" marL="0">
              <a:buNone/>
            </a:pPr>
            <a:r>
              <a:rPr lang="en-US" sz="1150" b="1" dirty="0">
                <a:solidFill>
                  <a:srgbClr val="1E1E1E"/>
                </a:solidFill>
                <a:latin typeface="Calibri" pitchFamily="34" charset="0"/>
                <a:ea typeface="Calibri" pitchFamily="34" charset="-122"/>
                <a:cs typeface="Calibri" pitchFamily="34" charset="-120"/>
              </a:rPr>
              <a:t>Preuve sociale</a:t>
            </a:r>
            <a:endParaRPr lang="en-US" sz="1150" dirty="0"/>
          </a:p>
        </p:txBody>
      </p:sp>
      <p:sp>
        <p:nvSpPr>
          <p:cNvPr id="28" name="Text 26"/>
          <p:cNvSpPr/>
          <p:nvPr/>
        </p:nvSpPr>
        <p:spPr>
          <a:xfrm>
            <a:off x="2834640" y="4937760"/>
            <a:ext cx="2514600" cy="777240"/>
          </a:xfrm>
          <a:prstGeom prst="rect">
            <a:avLst/>
          </a:prstGeom>
          <a:noFill/>
          <a:ln/>
        </p:spPr>
        <p:txBody>
          <a:bodyPr wrap="square" rtlCol="0" anchor="ctr"/>
          <a:lstStyle/>
          <a:p>
            <a:pPr indent="0" marL="0">
              <a:buNone/>
            </a:pPr>
            <a:r>
              <a:rPr lang="en-US" sz="1150" b="1" dirty="0">
                <a:solidFill>
                  <a:srgbClr val="9C7A3C"/>
                </a:solidFill>
                <a:latin typeface="Calibri" pitchFamily="34" charset="0"/>
                <a:ea typeface="Calibri" pitchFamily="34" charset="-122"/>
                <a:cs typeface="Calibri" pitchFamily="34" charset="-120"/>
              </a:rPr>
              <a:t>Non exploitée</a:t>
            </a:r>
            <a:endParaRPr lang="en-US" sz="1150" dirty="0"/>
          </a:p>
        </p:txBody>
      </p:sp>
      <p:sp>
        <p:nvSpPr>
          <p:cNvPr id="29" name="Text 27"/>
          <p:cNvSpPr/>
          <p:nvPr/>
        </p:nvSpPr>
        <p:spPr>
          <a:xfrm>
            <a:off x="5532120" y="4937760"/>
            <a:ext cx="2514600" cy="777240"/>
          </a:xfrm>
          <a:prstGeom prst="rect">
            <a:avLst/>
          </a:prstGeom>
          <a:noFill/>
          <a:ln/>
        </p:spPr>
        <p:txBody>
          <a:bodyPr wrap="square" rtlCol="0" anchor="ctr"/>
          <a:lstStyle/>
          <a:p>
            <a:pPr indent="0" marL="0">
              <a:buNone/>
            </a:pPr>
            <a:r>
              <a:rPr lang="en-US" sz="1150" dirty="0">
                <a:solidFill>
                  <a:srgbClr val="1E1E1E"/>
                </a:solidFill>
                <a:latin typeface="Calibri" pitchFamily="34" charset="0"/>
                <a:ea typeface="Calibri" pitchFamily="34" charset="-122"/>
                <a:cs typeface="Calibri" pitchFamily="34" charset="-120"/>
              </a:rPr>
              <a:t>Contenu visuel riche</a:t>
            </a:r>
            <a:endParaRPr lang="en-US" sz="1150" dirty="0"/>
          </a:p>
        </p:txBody>
      </p:sp>
      <p:sp>
        <p:nvSpPr>
          <p:cNvPr id="30" name="Text 28"/>
          <p:cNvSpPr/>
          <p:nvPr/>
        </p:nvSpPr>
        <p:spPr>
          <a:xfrm>
            <a:off x="8229600" y="4937760"/>
            <a:ext cx="1783080" cy="777240"/>
          </a:xfrm>
          <a:prstGeom prst="rect">
            <a:avLst/>
          </a:prstGeom>
          <a:noFill/>
          <a:ln/>
        </p:spPr>
        <p:txBody>
          <a:bodyPr wrap="square" rtlCol="0" anchor="ctr"/>
          <a:lstStyle/>
          <a:p>
            <a:pPr indent="0" marL="0">
              <a:buNone/>
            </a:pPr>
            <a:r>
              <a:rPr lang="en-US" sz="1150" dirty="0">
                <a:solidFill>
                  <a:srgbClr val="1E1E1E"/>
                </a:solidFill>
                <a:latin typeface="Calibri" pitchFamily="34" charset="0"/>
                <a:ea typeface="Calibri" pitchFamily="34" charset="-122"/>
                <a:cs typeface="Calibri" pitchFamily="34" charset="-120"/>
              </a:rPr>
              <a:t>Note Google 4,8/5 affichée</a:t>
            </a:r>
            <a:endParaRPr lang="en-US" sz="1150" dirty="0"/>
          </a:p>
        </p:txBody>
      </p:sp>
      <p:sp>
        <p:nvSpPr>
          <p:cNvPr id="31" name="Text 29"/>
          <p:cNvSpPr/>
          <p:nvPr/>
        </p:nvSpPr>
        <p:spPr>
          <a:xfrm>
            <a:off x="10195560" y="4937760"/>
            <a:ext cx="1828800" cy="777240"/>
          </a:xfrm>
          <a:prstGeom prst="rect">
            <a:avLst/>
          </a:prstGeom>
          <a:noFill/>
          <a:ln/>
        </p:spPr>
        <p:txBody>
          <a:bodyPr wrap="square" rtlCol="0" anchor="ctr"/>
          <a:lstStyle/>
          <a:p>
            <a:pPr indent="0" marL="0">
              <a:buNone/>
            </a:pPr>
            <a:r>
              <a:rPr lang="en-US" sz="1150" dirty="0">
                <a:solidFill>
                  <a:srgbClr val="1E1E1E"/>
                </a:solidFill>
                <a:latin typeface="Calibri" pitchFamily="34" charset="0"/>
                <a:ea typeface="Calibri" pitchFamily="34" charset="-122"/>
                <a:cs typeface="Calibri" pitchFamily="34" charset="-120"/>
              </a:rPr>
              <a:t>Bouche-à-oreille</a:t>
            </a:r>
            <a:endParaRPr lang="en-US" sz="1150" dirty="0"/>
          </a:p>
        </p:txBody>
      </p:sp>
      <p:sp>
        <p:nvSpPr>
          <p:cNvPr id="32" name="Text 30"/>
          <p:cNvSpPr/>
          <p:nvPr/>
        </p:nvSpPr>
        <p:spPr>
          <a:xfrm>
            <a:off x="457200" y="6510528"/>
            <a:ext cx="5486400" cy="274320"/>
          </a:xfrm>
          <a:prstGeom prst="rect">
            <a:avLst/>
          </a:prstGeom>
          <a:noFill/>
          <a:ln/>
        </p:spPr>
        <p:txBody>
          <a:bodyPr wrap="square" rtlCol="0" anchor="ctr"/>
          <a:lstStyle/>
          <a:p>
            <a:pPr algn="l" indent="0" marL="0">
              <a:buNone/>
            </a:pPr>
            <a:r>
              <a:rPr lang="en-US" sz="900" dirty="0">
                <a:solidFill>
                  <a:srgbClr val="A9A9A9"/>
                </a:solidFill>
                <a:latin typeface="Calibri" pitchFamily="34" charset="0"/>
                <a:ea typeface="Calibri" pitchFamily="34" charset="-122"/>
                <a:cs typeface="Calibri" pitchFamily="34" charset="-120"/>
              </a:rPr>
              <a:t>Boutique Tailleur Mark 109</a:t>
            </a:r>
            <a:endParaRPr lang="en-US" sz="900" dirty="0"/>
          </a:p>
        </p:txBody>
      </p:sp>
      <p:sp>
        <p:nvSpPr>
          <p:cNvPr id="33" name="Text 31"/>
          <p:cNvSpPr/>
          <p:nvPr/>
        </p:nvSpPr>
        <p:spPr>
          <a:xfrm>
            <a:off x="11338560" y="6510528"/>
            <a:ext cx="365760" cy="274320"/>
          </a:xfrm>
          <a:prstGeom prst="rect">
            <a:avLst/>
          </a:prstGeom>
          <a:noFill/>
          <a:ln/>
        </p:spPr>
        <p:txBody>
          <a:bodyPr wrap="square" rtlCol="0" anchor="ctr"/>
          <a:lstStyle/>
          <a:p>
            <a:pPr algn="r" indent="0" marL="0">
              <a:buNone/>
            </a:pPr>
            <a:r>
              <a:rPr lang="en-US" sz="900" dirty="0">
                <a:solidFill>
                  <a:srgbClr val="A9A9A9"/>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2286000" y="3200400"/>
            <a:ext cx="5486400" cy="5486400"/>
          </a:xfrm>
          <a:prstGeom prst="ellipse">
            <a:avLst/>
          </a:prstGeom>
          <a:solidFill>
            <a:srgbClr val="2B2B2B"/>
          </a:solidFill>
          <a:ln/>
        </p:spPr>
      </p:sp>
      <p:sp>
        <p:nvSpPr>
          <p:cNvPr id="3" name="Text 1"/>
          <p:cNvSpPr/>
          <p:nvPr/>
        </p:nvSpPr>
        <p:spPr>
          <a:xfrm>
            <a:off x="731520" y="1371600"/>
            <a:ext cx="5486400" cy="365760"/>
          </a:xfrm>
          <a:prstGeom prst="rect">
            <a:avLst/>
          </a:prstGeom>
          <a:noFill/>
          <a:ln/>
        </p:spPr>
        <p:txBody>
          <a:bodyPr wrap="square" rtlCol="0" anchor="ctr"/>
          <a:lstStyle/>
          <a:p>
            <a:pPr indent="0" marL="0">
              <a:buNone/>
            </a:pPr>
            <a:r>
              <a:rPr lang="en-US" sz="1300" b="1" spc="200" kern="0" dirty="0">
                <a:solidFill>
                  <a:srgbClr val="C9A96A"/>
                </a:solidFill>
                <a:latin typeface="Calibri" pitchFamily="34" charset="0"/>
                <a:ea typeface="Calibri" pitchFamily="34" charset="-122"/>
                <a:cs typeface="Calibri" pitchFamily="34" charset="-120"/>
              </a:rPr>
              <a:t>LA VISION</a:t>
            </a:r>
            <a:endParaRPr lang="en-US" sz="1300" dirty="0"/>
          </a:p>
        </p:txBody>
      </p:sp>
      <p:sp>
        <p:nvSpPr>
          <p:cNvPr id="4" name="Text 2"/>
          <p:cNvSpPr/>
          <p:nvPr/>
        </p:nvSpPr>
        <p:spPr>
          <a:xfrm>
            <a:off x="685800" y="1828800"/>
            <a:ext cx="10515600" cy="1828800"/>
          </a:xfrm>
          <a:prstGeom prst="rect">
            <a:avLst/>
          </a:prstGeom>
          <a:noFill/>
          <a:ln/>
        </p:spPr>
        <p:txBody>
          <a:bodyPr wrap="square" rtlCol="0" anchor="ctr"/>
          <a:lstStyle/>
          <a:p>
            <a:pPr indent="0" marL="0">
              <a:lnSpc>
                <a:spcPct val="115000"/>
              </a:lnSpc>
              <a:buNone/>
            </a:pPr>
            <a:r>
              <a:rPr lang="en-US" sz="3800" b="1" dirty="0">
                <a:solidFill>
                  <a:srgbClr val="FFFFFF"/>
                </a:solidFill>
                <a:latin typeface="Cambria" pitchFamily="34" charset="0"/>
                <a:ea typeface="Cambria" pitchFamily="34" charset="-122"/>
                <a:cs typeface="Cambria" pitchFamily="34" charset="-120"/>
              </a:rPr>
              <a:t>Le même savoir-faire.</a:t>
            </a:r>
            <a:endParaRPr lang="en-US" sz="3800" dirty="0"/>
          </a:p>
          <a:p>
            <a:pPr indent="0" marL="0">
              <a:lnSpc>
                <a:spcPct val="115000"/>
              </a:lnSpc>
              <a:buNone/>
            </a:pPr>
            <a:r>
              <a:rPr lang="en-US" sz="3800" b="1" dirty="0">
                <a:solidFill>
                  <a:srgbClr val="FFFFFF"/>
                </a:solidFill>
                <a:latin typeface="Cambria" pitchFamily="34" charset="0"/>
                <a:ea typeface="Cambria" pitchFamily="34" charset="-122"/>
                <a:cs typeface="Cambria" pitchFamily="34" charset="-120"/>
              </a:rPr>
              <a:t>Un cadre à sa hauteur.</a:t>
            </a:r>
            <a:endParaRPr lang="en-US" sz="3800" dirty="0"/>
          </a:p>
        </p:txBody>
      </p:sp>
      <p:sp>
        <p:nvSpPr>
          <p:cNvPr id="5" name="Text 3"/>
          <p:cNvSpPr/>
          <p:nvPr/>
        </p:nvSpPr>
        <p:spPr>
          <a:xfrm>
            <a:off x="731520" y="3840480"/>
            <a:ext cx="7863840" cy="1463040"/>
          </a:xfrm>
          <a:prstGeom prst="rect">
            <a:avLst/>
          </a:prstGeom>
          <a:noFill/>
          <a:ln/>
        </p:spPr>
        <p:txBody>
          <a:bodyPr wrap="square" rtlCol="0" anchor="ctr"/>
          <a:lstStyle/>
          <a:p>
            <a:pPr indent="0" marL="0">
              <a:lnSpc>
                <a:spcPct val="130000"/>
              </a:lnSpc>
              <a:buNone/>
            </a:pPr>
            <a:r>
              <a:rPr lang="en-US" sz="1500" dirty="0">
                <a:solidFill>
                  <a:srgbClr val="D8D8D8"/>
                </a:solidFill>
                <a:latin typeface="Calibri" pitchFamily="34" charset="0"/>
                <a:ea typeface="Calibri" pitchFamily="34" charset="-122"/>
                <a:cs typeface="Calibri" pitchFamily="34" charset="-120"/>
              </a:rPr>
              <a:t>Le repositionnement ne change pas le métier : il change le cadre. Sur-mesure, retouches fines et conseils de style sont présentés non plus comme un service de quartier, mais comme une expérience privée — réservée à une clientèle qui recherche précision, discrétion et exclusivité.</a:t>
            </a:r>
            <a:endParaRPr lang="en-US" sz="1500" dirty="0"/>
          </a:p>
        </p:txBody>
      </p:sp>
      <p:sp>
        <p:nvSpPr>
          <p:cNvPr id="6" name="Text 4"/>
          <p:cNvSpPr/>
          <p:nvPr/>
        </p:nvSpPr>
        <p:spPr>
          <a:xfrm>
            <a:off x="457200" y="6510528"/>
            <a:ext cx="5486400" cy="274320"/>
          </a:xfrm>
          <a:prstGeom prst="rect">
            <a:avLst/>
          </a:prstGeom>
          <a:noFill/>
          <a:ln/>
        </p:spPr>
        <p:txBody>
          <a:bodyPr wrap="square" rtlCol="0" anchor="ctr"/>
          <a:lstStyle/>
          <a:p>
            <a:pPr algn="l" indent="0" marL="0">
              <a:buNone/>
            </a:pPr>
            <a:r>
              <a:rPr lang="en-US" sz="900" dirty="0">
                <a:solidFill>
                  <a:srgbClr val="8A8A8A"/>
                </a:solidFill>
                <a:latin typeface="Calibri" pitchFamily="34" charset="0"/>
                <a:ea typeface="Calibri" pitchFamily="34" charset="-122"/>
                <a:cs typeface="Calibri" pitchFamily="34" charset="-120"/>
              </a:rPr>
              <a:t>Boutique Tailleur Mark 109</a:t>
            </a:r>
            <a:endParaRPr lang="en-US" sz="900" dirty="0"/>
          </a:p>
        </p:txBody>
      </p:sp>
      <p:sp>
        <p:nvSpPr>
          <p:cNvPr id="7" name="Text 5"/>
          <p:cNvSpPr/>
          <p:nvPr/>
        </p:nvSpPr>
        <p:spPr>
          <a:xfrm>
            <a:off x="11338560" y="6510528"/>
            <a:ext cx="365760" cy="274320"/>
          </a:xfrm>
          <a:prstGeom prst="rect">
            <a:avLst/>
          </a:prstGeom>
          <a:noFill/>
          <a:ln/>
        </p:spPr>
        <p:txBody>
          <a:bodyPr wrap="square"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9C7A3C"/>
                </a:solidFill>
                <a:latin typeface="Calibri" pitchFamily="34" charset="0"/>
                <a:ea typeface="Calibri" pitchFamily="34" charset="-122"/>
                <a:cs typeface="Calibri" pitchFamily="34" charset="-120"/>
              </a:rPr>
              <a:t>PILIER 1</a:t>
            </a:r>
            <a:endParaRPr lang="en-US" sz="1300" dirty="0"/>
          </a:p>
        </p:txBody>
      </p:sp>
      <p:sp>
        <p:nvSpPr>
          <p:cNvPr id="3" name="Text 1"/>
          <p:cNvSpPr/>
          <p:nvPr/>
        </p:nvSpPr>
        <p:spPr>
          <a:xfrm>
            <a:off x="548640" y="713232"/>
            <a:ext cx="10515600" cy="822960"/>
          </a:xfrm>
          <a:prstGeom prst="rect">
            <a:avLst/>
          </a:prstGeom>
          <a:noFill/>
          <a:ln/>
        </p:spPr>
        <p:txBody>
          <a:bodyPr wrap="square" rtlCol="0" anchor="ctr"/>
          <a:lstStyle/>
          <a:p>
            <a:pPr indent="0" marL="0">
              <a:buNone/>
            </a:pPr>
            <a:r>
              <a:rPr lang="en-US" sz="3000" b="1" dirty="0">
                <a:solidFill>
                  <a:srgbClr val="1E1E1E"/>
                </a:solidFill>
                <a:latin typeface="Cambria" pitchFamily="34" charset="0"/>
                <a:ea typeface="Cambria" pitchFamily="34" charset="-122"/>
                <a:cs typeface="Cambria" pitchFamily="34" charset="-120"/>
              </a:rPr>
              <a:t>Le modèle de rendez-vous privés</a:t>
            </a:r>
            <a:endParaRPr lang="en-US" sz="3000" dirty="0"/>
          </a:p>
        </p:txBody>
      </p:sp>
      <p:sp>
        <p:nvSpPr>
          <p:cNvPr id="4" name="Text 2"/>
          <p:cNvSpPr/>
          <p:nvPr/>
        </p:nvSpPr>
        <p:spPr>
          <a:xfrm>
            <a:off x="548640" y="1828800"/>
            <a:ext cx="5760720" cy="2194560"/>
          </a:xfrm>
          <a:prstGeom prst="rect">
            <a:avLst/>
          </a:prstGeom>
          <a:noFill/>
          <a:ln/>
        </p:spPr>
        <p:txBody>
          <a:bodyPr wrap="square" rtlCol="0" anchor="ctr"/>
          <a:lstStyle/>
          <a:p>
            <a:pPr indent="0" marL="0">
              <a:lnSpc>
                <a:spcPct val="135000"/>
              </a:lnSpc>
              <a:buNone/>
            </a:pPr>
            <a:r>
              <a:rPr lang="en-US" sz="1500" dirty="0">
                <a:solidFill>
                  <a:srgbClr val="1E1E1E"/>
                </a:solidFill>
                <a:latin typeface="Calibri" pitchFamily="34" charset="0"/>
                <a:ea typeface="Calibri" pitchFamily="34" charset="-122"/>
                <a:cs typeface="Calibri" pitchFamily="34" charset="-120"/>
              </a:rPr>
              <a:t>Chaque interaction commence par une consultation, jamais par une vente directe. L'agenda devient un outil de positionnement : un client qui doit prendre rendez-vous perçoit d'emblée un niveau de service plus élevé qu'un client qui entre simplement dans une boutique.</a:t>
            </a:r>
            <a:endParaRPr lang="en-US" sz="1500" dirty="0"/>
          </a:p>
        </p:txBody>
      </p:sp>
      <p:sp>
        <p:nvSpPr>
          <p:cNvPr id="5" name="Shape 3"/>
          <p:cNvSpPr/>
          <p:nvPr/>
        </p:nvSpPr>
        <p:spPr>
          <a:xfrm>
            <a:off x="6949440" y="1965960"/>
            <a:ext cx="457200" cy="457200"/>
          </a:xfrm>
          <a:prstGeom prst="ellipse">
            <a:avLst/>
          </a:prstGeom>
          <a:solidFill>
            <a:srgbClr val="9C7A3C"/>
          </a:solidFill>
          <a:ln/>
        </p:spPr>
      </p:sp>
      <p:sp>
        <p:nvSpPr>
          <p:cNvPr id="6" name="Text 4"/>
          <p:cNvSpPr/>
          <p:nvPr/>
        </p:nvSpPr>
        <p:spPr>
          <a:xfrm>
            <a:off x="6949440" y="1965960"/>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7543800" y="1984248"/>
            <a:ext cx="3931920" cy="457200"/>
          </a:xfrm>
          <a:prstGeom prst="rect">
            <a:avLst/>
          </a:prstGeom>
          <a:noFill/>
          <a:ln/>
        </p:spPr>
        <p:txBody>
          <a:bodyPr wrap="square" rtlCol="0" anchor="ctr"/>
          <a:lstStyle/>
          <a:p>
            <a:pPr indent="0" marL="0">
              <a:buNone/>
            </a:pPr>
            <a:r>
              <a:rPr lang="en-US" sz="1350" b="1" dirty="0">
                <a:solidFill>
                  <a:srgbClr val="1E1E1E"/>
                </a:solidFill>
                <a:latin typeface="Calibri" pitchFamily="34" charset="0"/>
                <a:ea typeface="Calibri" pitchFamily="34" charset="-122"/>
                <a:cs typeface="Calibri" pitchFamily="34" charset="-120"/>
              </a:rPr>
              <a:t>Prise de rendez-vous en ligne</a:t>
            </a:r>
            <a:endParaRPr lang="en-US" sz="1350" dirty="0"/>
          </a:p>
        </p:txBody>
      </p:sp>
      <p:sp>
        <p:nvSpPr>
          <p:cNvPr id="8" name="Shape 6"/>
          <p:cNvSpPr/>
          <p:nvPr/>
        </p:nvSpPr>
        <p:spPr>
          <a:xfrm>
            <a:off x="7178040" y="2423160"/>
            <a:ext cx="0" cy="502920"/>
          </a:xfrm>
          <a:prstGeom prst="line">
            <a:avLst/>
          </a:prstGeom>
          <a:noFill/>
          <a:ln w="19050">
            <a:solidFill>
              <a:srgbClr val="D6D6D6"/>
            </a:solidFill>
            <a:prstDash val="dash"/>
          </a:ln>
        </p:spPr>
      </p:sp>
      <p:sp>
        <p:nvSpPr>
          <p:cNvPr id="9" name="Shape 7"/>
          <p:cNvSpPr/>
          <p:nvPr/>
        </p:nvSpPr>
        <p:spPr>
          <a:xfrm>
            <a:off x="6949440" y="2926080"/>
            <a:ext cx="457200" cy="457200"/>
          </a:xfrm>
          <a:prstGeom prst="ellipse">
            <a:avLst/>
          </a:prstGeom>
          <a:solidFill>
            <a:srgbClr val="9C7A3C"/>
          </a:solidFill>
          <a:ln/>
        </p:spPr>
      </p:sp>
      <p:sp>
        <p:nvSpPr>
          <p:cNvPr id="10" name="Text 8"/>
          <p:cNvSpPr/>
          <p:nvPr/>
        </p:nvSpPr>
        <p:spPr>
          <a:xfrm>
            <a:off x="6949440" y="2926080"/>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1" name="Text 9"/>
          <p:cNvSpPr/>
          <p:nvPr/>
        </p:nvSpPr>
        <p:spPr>
          <a:xfrm>
            <a:off x="7543800" y="2944368"/>
            <a:ext cx="3931920" cy="457200"/>
          </a:xfrm>
          <a:prstGeom prst="rect">
            <a:avLst/>
          </a:prstGeom>
          <a:noFill/>
          <a:ln/>
        </p:spPr>
        <p:txBody>
          <a:bodyPr wrap="square" rtlCol="0" anchor="ctr"/>
          <a:lstStyle/>
          <a:p>
            <a:pPr indent="0" marL="0">
              <a:buNone/>
            </a:pPr>
            <a:r>
              <a:rPr lang="en-US" sz="1350" b="1" dirty="0">
                <a:solidFill>
                  <a:srgbClr val="1E1E1E"/>
                </a:solidFill>
                <a:latin typeface="Calibri" pitchFamily="34" charset="0"/>
                <a:ea typeface="Calibri" pitchFamily="34" charset="-122"/>
                <a:cs typeface="Calibri" pitchFamily="34" charset="-120"/>
              </a:rPr>
              <a:t>Consultation privée en atelier</a:t>
            </a:r>
            <a:endParaRPr lang="en-US" sz="1350" dirty="0"/>
          </a:p>
        </p:txBody>
      </p:sp>
      <p:sp>
        <p:nvSpPr>
          <p:cNvPr id="12" name="Shape 10"/>
          <p:cNvSpPr/>
          <p:nvPr/>
        </p:nvSpPr>
        <p:spPr>
          <a:xfrm>
            <a:off x="7178040" y="3383280"/>
            <a:ext cx="0" cy="502920"/>
          </a:xfrm>
          <a:prstGeom prst="line">
            <a:avLst/>
          </a:prstGeom>
          <a:noFill/>
          <a:ln w="19050">
            <a:solidFill>
              <a:srgbClr val="D6D6D6"/>
            </a:solidFill>
            <a:prstDash val="dash"/>
          </a:ln>
        </p:spPr>
      </p:sp>
      <p:sp>
        <p:nvSpPr>
          <p:cNvPr id="13" name="Shape 11"/>
          <p:cNvSpPr/>
          <p:nvPr/>
        </p:nvSpPr>
        <p:spPr>
          <a:xfrm>
            <a:off x="6949440" y="3886200"/>
            <a:ext cx="457200" cy="457200"/>
          </a:xfrm>
          <a:prstGeom prst="ellipse">
            <a:avLst/>
          </a:prstGeom>
          <a:solidFill>
            <a:srgbClr val="9C7A3C"/>
          </a:solidFill>
          <a:ln/>
        </p:spPr>
      </p:sp>
      <p:sp>
        <p:nvSpPr>
          <p:cNvPr id="14" name="Text 12"/>
          <p:cNvSpPr/>
          <p:nvPr/>
        </p:nvSpPr>
        <p:spPr>
          <a:xfrm>
            <a:off x="6949440" y="3886200"/>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5" name="Text 13"/>
          <p:cNvSpPr/>
          <p:nvPr/>
        </p:nvSpPr>
        <p:spPr>
          <a:xfrm>
            <a:off x="7543800" y="3904488"/>
            <a:ext cx="3931920" cy="457200"/>
          </a:xfrm>
          <a:prstGeom prst="rect">
            <a:avLst/>
          </a:prstGeom>
          <a:noFill/>
          <a:ln/>
        </p:spPr>
        <p:txBody>
          <a:bodyPr wrap="square" rtlCol="0" anchor="ctr"/>
          <a:lstStyle/>
          <a:p>
            <a:pPr indent="0" marL="0">
              <a:buNone/>
            </a:pPr>
            <a:r>
              <a:rPr lang="en-US" sz="1350" b="1" dirty="0">
                <a:solidFill>
                  <a:srgbClr val="1E1E1E"/>
                </a:solidFill>
                <a:latin typeface="Calibri" pitchFamily="34" charset="0"/>
                <a:ea typeface="Calibri" pitchFamily="34" charset="-122"/>
                <a:cs typeface="Calibri" pitchFamily="34" charset="-120"/>
              </a:rPr>
              <a:t>Sélection du tissu et des détails</a:t>
            </a:r>
            <a:endParaRPr lang="en-US" sz="1350" dirty="0"/>
          </a:p>
        </p:txBody>
      </p:sp>
      <p:sp>
        <p:nvSpPr>
          <p:cNvPr id="16" name="Shape 14"/>
          <p:cNvSpPr/>
          <p:nvPr/>
        </p:nvSpPr>
        <p:spPr>
          <a:xfrm>
            <a:off x="7178040" y="4343400"/>
            <a:ext cx="0" cy="502920"/>
          </a:xfrm>
          <a:prstGeom prst="line">
            <a:avLst/>
          </a:prstGeom>
          <a:noFill/>
          <a:ln w="19050">
            <a:solidFill>
              <a:srgbClr val="D6D6D6"/>
            </a:solidFill>
            <a:prstDash val="dash"/>
          </a:ln>
        </p:spPr>
      </p:sp>
      <p:sp>
        <p:nvSpPr>
          <p:cNvPr id="17" name="Shape 15"/>
          <p:cNvSpPr/>
          <p:nvPr/>
        </p:nvSpPr>
        <p:spPr>
          <a:xfrm>
            <a:off x="6949440" y="4846320"/>
            <a:ext cx="457200" cy="457200"/>
          </a:xfrm>
          <a:prstGeom prst="ellipse">
            <a:avLst/>
          </a:prstGeom>
          <a:solidFill>
            <a:srgbClr val="9C7A3C"/>
          </a:solidFill>
          <a:ln/>
        </p:spPr>
      </p:sp>
      <p:sp>
        <p:nvSpPr>
          <p:cNvPr id="18" name="Text 16"/>
          <p:cNvSpPr/>
          <p:nvPr/>
        </p:nvSpPr>
        <p:spPr>
          <a:xfrm>
            <a:off x="6949440" y="4846320"/>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9" name="Text 17"/>
          <p:cNvSpPr/>
          <p:nvPr/>
        </p:nvSpPr>
        <p:spPr>
          <a:xfrm>
            <a:off x="7543800" y="4864608"/>
            <a:ext cx="3931920" cy="457200"/>
          </a:xfrm>
          <a:prstGeom prst="rect">
            <a:avLst/>
          </a:prstGeom>
          <a:noFill/>
          <a:ln/>
        </p:spPr>
        <p:txBody>
          <a:bodyPr wrap="square" rtlCol="0" anchor="ctr"/>
          <a:lstStyle/>
          <a:p>
            <a:pPr indent="0" marL="0">
              <a:buNone/>
            </a:pPr>
            <a:r>
              <a:rPr lang="en-US" sz="1350" b="1" dirty="0">
                <a:solidFill>
                  <a:srgbClr val="1E1E1E"/>
                </a:solidFill>
                <a:latin typeface="Calibri" pitchFamily="34" charset="0"/>
                <a:ea typeface="Calibri" pitchFamily="34" charset="-122"/>
                <a:cs typeface="Calibri" pitchFamily="34" charset="-120"/>
              </a:rPr>
              <a:t>Suivi personnalisé jusqu'à livraison</a:t>
            </a:r>
            <a:endParaRPr lang="en-US" sz="1350" dirty="0"/>
          </a:p>
        </p:txBody>
      </p:sp>
      <p:sp>
        <p:nvSpPr>
          <p:cNvPr id="20" name="Text 18"/>
          <p:cNvSpPr/>
          <p:nvPr/>
        </p:nvSpPr>
        <p:spPr>
          <a:xfrm>
            <a:off x="457200" y="6510528"/>
            <a:ext cx="5486400" cy="274320"/>
          </a:xfrm>
          <a:prstGeom prst="rect">
            <a:avLst/>
          </a:prstGeom>
          <a:noFill/>
          <a:ln/>
        </p:spPr>
        <p:txBody>
          <a:bodyPr wrap="square" rtlCol="0" anchor="ctr"/>
          <a:lstStyle/>
          <a:p>
            <a:pPr algn="l" indent="0" marL="0">
              <a:buNone/>
            </a:pPr>
            <a:r>
              <a:rPr lang="en-US" sz="900" dirty="0">
                <a:solidFill>
                  <a:srgbClr val="A9A9A9"/>
                </a:solidFill>
                <a:latin typeface="Calibri" pitchFamily="34" charset="0"/>
                <a:ea typeface="Calibri" pitchFamily="34" charset="-122"/>
                <a:cs typeface="Calibri" pitchFamily="34" charset="-120"/>
              </a:rPr>
              <a:t>Boutique Tailleur Mark 109</a:t>
            </a:r>
            <a:endParaRPr lang="en-US" sz="900" dirty="0"/>
          </a:p>
        </p:txBody>
      </p:sp>
      <p:sp>
        <p:nvSpPr>
          <p:cNvPr id="21" name="Text 19"/>
          <p:cNvSpPr/>
          <p:nvPr/>
        </p:nvSpPr>
        <p:spPr>
          <a:xfrm>
            <a:off x="11338560" y="6510528"/>
            <a:ext cx="365760" cy="274320"/>
          </a:xfrm>
          <a:prstGeom prst="rect">
            <a:avLst/>
          </a:prstGeom>
          <a:noFill/>
          <a:ln/>
        </p:spPr>
        <p:txBody>
          <a:bodyPr wrap="square" rtlCol="0" anchor="ctr"/>
          <a:lstStyle/>
          <a:p>
            <a:pPr algn="r" indent="0" marL="0">
              <a:buNone/>
            </a:pPr>
            <a:r>
              <a:rPr lang="en-US" sz="900" dirty="0">
                <a:solidFill>
                  <a:srgbClr val="A9A9A9"/>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1E1E"/>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C9A96A"/>
                </a:solidFill>
                <a:latin typeface="Calibri" pitchFamily="34" charset="0"/>
                <a:ea typeface="Calibri" pitchFamily="34" charset="-122"/>
                <a:cs typeface="Calibri" pitchFamily="34" charset="-120"/>
              </a:rPr>
              <a:t>PILIER 2</a:t>
            </a:r>
            <a:endParaRPr lang="en-US" sz="1300" dirty="0"/>
          </a:p>
        </p:txBody>
      </p:sp>
      <p:sp>
        <p:nvSpPr>
          <p:cNvPr id="3" name="Text 1"/>
          <p:cNvSpPr/>
          <p:nvPr/>
        </p:nvSpPr>
        <p:spPr>
          <a:xfrm>
            <a:off x="548640" y="713232"/>
            <a:ext cx="10515600" cy="82296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La segmentation de l'offre</a:t>
            </a:r>
            <a:endParaRPr lang="en-US" sz="3000" dirty="0"/>
          </a:p>
        </p:txBody>
      </p:sp>
      <p:sp>
        <p:nvSpPr>
          <p:cNvPr id="4" name="Shape 2"/>
          <p:cNvSpPr/>
          <p:nvPr/>
        </p:nvSpPr>
        <p:spPr>
          <a:xfrm>
            <a:off x="548640" y="1874520"/>
            <a:ext cx="3520440" cy="3657600"/>
          </a:xfrm>
          <a:prstGeom prst="roundRect">
            <a:avLst>
              <a:gd name="adj" fmla="val 2078"/>
            </a:avLst>
          </a:prstGeom>
          <a:solidFill>
            <a:srgbClr val="2B2B2B"/>
          </a:solidFill>
          <a:ln w="12700">
            <a:solidFill>
              <a:srgbClr val="9C7A3C"/>
            </a:solidFill>
            <a:prstDash val="solid"/>
          </a:ln>
        </p:spPr>
      </p:sp>
      <p:sp>
        <p:nvSpPr>
          <p:cNvPr id="5" name="Shape 3"/>
          <p:cNvSpPr/>
          <p:nvPr/>
        </p:nvSpPr>
        <p:spPr>
          <a:xfrm>
            <a:off x="822960" y="2377440"/>
            <a:ext cx="502920" cy="0"/>
          </a:xfrm>
          <a:prstGeom prst="line">
            <a:avLst/>
          </a:prstGeom>
          <a:noFill/>
          <a:ln w="25400">
            <a:solidFill>
              <a:srgbClr val="C9A96A"/>
            </a:solidFill>
            <a:prstDash val="solid"/>
          </a:ln>
        </p:spPr>
      </p:sp>
      <p:sp>
        <p:nvSpPr>
          <p:cNvPr id="6" name="Text 4"/>
          <p:cNvSpPr/>
          <p:nvPr/>
        </p:nvSpPr>
        <p:spPr>
          <a:xfrm>
            <a:off x="822960" y="2514600"/>
            <a:ext cx="2971800" cy="73152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Sur-mesure haute couture</a:t>
            </a:r>
            <a:endParaRPr lang="en-US" sz="1700" dirty="0"/>
          </a:p>
        </p:txBody>
      </p:sp>
      <p:sp>
        <p:nvSpPr>
          <p:cNvPr id="7" name="Text 5"/>
          <p:cNvSpPr/>
          <p:nvPr/>
        </p:nvSpPr>
        <p:spPr>
          <a:xfrm>
            <a:off x="822960" y="3291840"/>
            <a:ext cx="2971800" cy="1188720"/>
          </a:xfrm>
          <a:prstGeom prst="rect">
            <a:avLst/>
          </a:prstGeom>
          <a:noFill/>
          <a:ln/>
        </p:spPr>
        <p:txBody>
          <a:bodyPr wrap="square" rtlCol="0" anchor="ctr"/>
          <a:lstStyle/>
          <a:p>
            <a:pPr indent="0" marL="0">
              <a:lnSpc>
                <a:spcPct val="125000"/>
              </a:lnSpc>
              <a:buNone/>
            </a:pPr>
            <a:r>
              <a:rPr lang="en-US" sz="1200" dirty="0">
                <a:solidFill>
                  <a:srgbClr val="D0D0D0"/>
                </a:solidFill>
                <a:latin typeface="Calibri" pitchFamily="34" charset="0"/>
                <a:ea typeface="Calibri" pitchFamily="34" charset="-122"/>
                <a:cs typeface="Calibri" pitchFamily="34" charset="-120"/>
              </a:rPr>
              <a:t>Création complète, du choix du tissu à la dernière retouche — l'expérience signature.</a:t>
            </a:r>
            <a:endParaRPr lang="en-US" sz="1200" dirty="0"/>
          </a:p>
        </p:txBody>
      </p:sp>
      <p:sp>
        <p:nvSpPr>
          <p:cNvPr id="8" name="Text 6"/>
          <p:cNvSpPr/>
          <p:nvPr/>
        </p:nvSpPr>
        <p:spPr>
          <a:xfrm>
            <a:off x="822960" y="4572000"/>
            <a:ext cx="2971800" cy="274320"/>
          </a:xfrm>
          <a:prstGeom prst="rect">
            <a:avLst/>
          </a:prstGeom>
          <a:noFill/>
          <a:ln/>
        </p:spPr>
        <p:txBody>
          <a:bodyPr wrap="square" rtlCol="0" anchor="ctr"/>
          <a:lstStyle/>
          <a:p>
            <a:pPr indent="0" marL="0">
              <a:buNone/>
            </a:pPr>
            <a:r>
              <a:rPr lang="en-US" sz="950" b="1" spc="100" kern="0" dirty="0">
                <a:solidFill>
                  <a:srgbClr val="C9A96A"/>
                </a:solidFill>
                <a:latin typeface="Calibri" pitchFamily="34" charset="0"/>
                <a:ea typeface="Calibri" pitchFamily="34" charset="-122"/>
                <a:cs typeface="Calibri" pitchFamily="34" charset="-120"/>
              </a:rPr>
              <a:t>CLIENT CIBLE</a:t>
            </a:r>
            <a:endParaRPr lang="en-US" sz="950" dirty="0"/>
          </a:p>
        </p:txBody>
      </p:sp>
      <p:sp>
        <p:nvSpPr>
          <p:cNvPr id="9" name="Text 7"/>
          <p:cNvSpPr/>
          <p:nvPr/>
        </p:nvSpPr>
        <p:spPr>
          <a:xfrm>
            <a:off x="822960" y="4846320"/>
            <a:ext cx="2971800" cy="594360"/>
          </a:xfrm>
          <a:prstGeom prst="rect">
            <a:avLst/>
          </a:prstGeom>
          <a:noFill/>
          <a:ln/>
        </p:spPr>
        <p:txBody>
          <a:bodyPr wrap="square" rtlCol="0" anchor="ctr"/>
          <a:lstStyle/>
          <a:p>
            <a:pPr indent="0" marL="0">
              <a:buNone/>
            </a:pPr>
            <a:r>
              <a:rPr lang="en-US" sz="1100" i="1" dirty="0">
                <a:solidFill>
                  <a:srgbClr val="B8B8B8"/>
                </a:solidFill>
                <a:latin typeface="Calibri" pitchFamily="34" charset="0"/>
                <a:ea typeface="Calibri" pitchFamily="34" charset="-122"/>
                <a:cs typeface="Calibri" pitchFamily="34" charset="-120"/>
              </a:rPr>
              <a:t>Occasions marquantes, garde-robe professionnelle</a:t>
            </a:r>
            <a:endParaRPr lang="en-US" sz="1100" dirty="0"/>
          </a:p>
        </p:txBody>
      </p:sp>
      <p:sp>
        <p:nvSpPr>
          <p:cNvPr id="10" name="Shape 8"/>
          <p:cNvSpPr/>
          <p:nvPr/>
        </p:nvSpPr>
        <p:spPr>
          <a:xfrm>
            <a:off x="4343400" y="1874520"/>
            <a:ext cx="3520440" cy="3657600"/>
          </a:xfrm>
          <a:prstGeom prst="roundRect">
            <a:avLst>
              <a:gd name="adj" fmla="val 2078"/>
            </a:avLst>
          </a:prstGeom>
          <a:solidFill>
            <a:srgbClr val="2B2B2B"/>
          </a:solidFill>
          <a:ln w="12700">
            <a:solidFill>
              <a:srgbClr val="9C7A3C"/>
            </a:solidFill>
            <a:prstDash val="solid"/>
          </a:ln>
        </p:spPr>
      </p:sp>
      <p:sp>
        <p:nvSpPr>
          <p:cNvPr id="11" name="Shape 9"/>
          <p:cNvSpPr/>
          <p:nvPr/>
        </p:nvSpPr>
        <p:spPr>
          <a:xfrm>
            <a:off x="4617720" y="2377440"/>
            <a:ext cx="502920" cy="0"/>
          </a:xfrm>
          <a:prstGeom prst="line">
            <a:avLst/>
          </a:prstGeom>
          <a:noFill/>
          <a:ln w="25400">
            <a:solidFill>
              <a:srgbClr val="C9A96A"/>
            </a:solidFill>
            <a:prstDash val="solid"/>
          </a:ln>
        </p:spPr>
      </p:sp>
      <p:sp>
        <p:nvSpPr>
          <p:cNvPr id="12" name="Text 10"/>
          <p:cNvSpPr/>
          <p:nvPr/>
        </p:nvSpPr>
        <p:spPr>
          <a:xfrm>
            <a:off x="4617720" y="2514600"/>
            <a:ext cx="2971800" cy="73152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Retouches de pièces fines</a:t>
            </a:r>
            <a:endParaRPr lang="en-US" sz="1700" dirty="0"/>
          </a:p>
        </p:txBody>
      </p:sp>
      <p:sp>
        <p:nvSpPr>
          <p:cNvPr id="13" name="Text 11"/>
          <p:cNvSpPr/>
          <p:nvPr/>
        </p:nvSpPr>
        <p:spPr>
          <a:xfrm>
            <a:off x="4617720" y="3291840"/>
            <a:ext cx="2971800" cy="1188720"/>
          </a:xfrm>
          <a:prstGeom prst="rect">
            <a:avLst/>
          </a:prstGeom>
          <a:noFill/>
          <a:ln/>
        </p:spPr>
        <p:txBody>
          <a:bodyPr wrap="square" rtlCol="0" anchor="ctr"/>
          <a:lstStyle/>
          <a:p>
            <a:pPr indent="0" marL="0">
              <a:lnSpc>
                <a:spcPct val="125000"/>
              </a:lnSpc>
              <a:buNone/>
            </a:pPr>
            <a:r>
              <a:rPr lang="en-US" sz="1200" dirty="0">
                <a:solidFill>
                  <a:srgbClr val="D0D0D0"/>
                </a:solidFill>
                <a:latin typeface="Calibri" pitchFamily="34" charset="0"/>
                <a:ea typeface="Calibri" pitchFamily="34" charset="-122"/>
                <a:cs typeface="Calibri" pitchFamily="34" charset="-120"/>
              </a:rPr>
              <a:t>Expertise réservée aux tissus délicats et aux pièces de créateurs.</a:t>
            </a:r>
            <a:endParaRPr lang="en-US" sz="1200" dirty="0"/>
          </a:p>
        </p:txBody>
      </p:sp>
      <p:sp>
        <p:nvSpPr>
          <p:cNvPr id="14" name="Text 12"/>
          <p:cNvSpPr/>
          <p:nvPr/>
        </p:nvSpPr>
        <p:spPr>
          <a:xfrm>
            <a:off x="4617720" y="4572000"/>
            <a:ext cx="2971800" cy="274320"/>
          </a:xfrm>
          <a:prstGeom prst="rect">
            <a:avLst/>
          </a:prstGeom>
          <a:noFill/>
          <a:ln/>
        </p:spPr>
        <p:txBody>
          <a:bodyPr wrap="square" rtlCol="0" anchor="ctr"/>
          <a:lstStyle/>
          <a:p>
            <a:pPr indent="0" marL="0">
              <a:buNone/>
            </a:pPr>
            <a:r>
              <a:rPr lang="en-US" sz="950" b="1" spc="100" kern="0" dirty="0">
                <a:solidFill>
                  <a:srgbClr val="C9A96A"/>
                </a:solidFill>
                <a:latin typeface="Calibri" pitchFamily="34" charset="0"/>
                <a:ea typeface="Calibri" pitchFamily="34" charset="-122"/>
                <a:cs typeface="Calibri" pitchFamily="34" charset="-120"/>
              </a:rPr>
              <a:t>CLIENT CIBLE</a:t>
            </a:r>
            <a:endParaRPr lang="en-US" sz="950" dirty="0"/>
          </a:p>
        </p:txBody>
      </p:sp>
      <p:sp>
        <p:nvSpPr>
          <p:cNvPr id="15" name="Text 13"/>
          <p:cNvSpPr/>
          <p:nvPr/>
        </p:nvSpPr>
        <p:spPr>
          <a:xfrm>
            <a:off x="4617720" y="4846320"/>
            <a:ext cx="2971800" cy="594360"/>
          </a:xfrm>
          <a:prstGeom prst="rect">
            <a:avLst/>
          </a:prstGeom>
          <a:noFill/>
          <a:ln/>
        </p:spPr>
        <p:txBody>
          <a:bodyPr wrap="square" rtlCol="0" anchor="ctr"/>
          <a:lstStyle/>
          <a:p>
            <a:pPr indent="0" marL="0">
              <a:buNone/>
            </a:pPr>
            <a:r>
              <a:rPr lang="en-US" sz="1100" i="1" dirty="0">
                <a:solidFill>
                  <a:srgbClr val="B8B8B8"/>
                </a:solidFill>
                <a:latin typeface="Calibri" pitchFamily="34" charset="0"/>
                <a:ea typeface="Calibri" pitchFamily="34" charset="-122"/>
                <a:cs typeface="Calibri" pitchFamily="34" charset="-120"/>
              </a:rPr>
              <a:t>Propriétaires de vêtements de luxe déjà acquis ailleurs</a:t>
            </a:r>
            <a:endParaRPr lang="en-US" sz="1100" dirty="0"/>
          </a:p>
        </p:txBody>
      </p:sp>
      <p:sp>
        <p:nvSpPr>
          <p:cNvPr id="16" name="Shape 14"/>
          <p:cNvSpPr/>
          <p:nvPr/>
        </p:nvSpPr>
        <p:spPr>
          <a:xfrm>
            <a:off x="8138160" y="1874520"/>
            <a:ext cx="3520440" cy="3657600"/>
          </a:xfrm>
          <a:prstGeom prst="roundRect">
            <a:avLst>
              <a:gd name="adj" fmla="val 2078"/>
            </a:avLst>
          </a:prstGeom>
          <a:solidFill>
            <a:srgbClr val="2B2B2B"/>
          </a:solidFill>
          <a:ln w="12700">
            <a:solidFill>
              <a:srgbClr val="9C7A3C"/>
            </a:solidFill>
            <a:prstDash val="solid"/>
          </a:ln>
        </p:spPr>
      </p:sp>
      <p:sp>
        <p:nvSpPr>
          <p:cNvPr id="17" name="Shape 15"/>
          <p:cNvSpPr/>
          <p:nvPr/>
        </p:nvSpPr>
        <p:spPr>
          <a:xfrm>
            <a:off x="8412480" y="2377440"/>
            <a:ext cx="502920" cy="0"/>
          </a:xfrm>
          <a:prstGeom prst="line">
            <a:avLst/>
          </a:prstGeom>
          <a:noFill/>
          <a:ln w="25400">
            <a:solidFill>
              <a:srgbClr val="C9A96A"/>
            </a:solidFill>
            <a:prstDash val="solid"/>
          </a:ln>
        </p:spPr>
      </p:sp>
      <p:sp>
        <p:nvSpPr>
          <p:cNvPr id="18" name="Text 16"/>
          <p:cNvSpPr/>
          <p:nvPr/>
        </p:nvSpPr>
        <p:spPr>
          <a:xfrm>
            <a:off x="8412480" y="2514600"/>
            <a:ext cx="2971800" cy="73152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Boutique curatée</a:t>
            </a:r>
            <a:endParaRPr lang="en-US" sz="1700" dirty="0"/>
          </a:p>
        </p:txBody>
      </p:sp>
      <p:sp>
        <p:nvSpPr>
          <p:cNvPr id="19" name="Text 17"/>
          <p:cNvSpPr/>
          <p:nvPr/>
        </p:nvSpPr>
        <p:spPr>
          <a:xfrm>
            <a:off x="8412480" y="3291840"/>
            <a:ext cx="2971800" cy="1188720"/>
          </a:xfrm>
          <a:prstGeom prst="rect">
            <a:avLst/>
          </a:prstGeom>
          <a:noFill/>
          <a:ln/>
        </p:spPr>
        <p:txBody>
          <a:bodyPr wrap="square" rtlCol="0" anchor="ctr"/>
          <a:lstStyle/>
          <a:p>
            <a:pPr indent="0" marL="0">
              <a:lnSpc>
                <a:spcPct val="125000"/>
              </a:lnSpc>
              <a:buNone/>
            </a:pPr>
            <a:r>
              <a:rPr lang="en-US" sz="1200" dirty="0">
                <a:solidFill>
                  <a:srgbClr val="D0D0D0"/>
                </a:solidFill>
                <a:latin typeface="Calibri" pitchFamily="34" charset="0"/>
                <a:ea typeface="Calibri" pitchFamily="34" charset="-122"/>
                <a:cs typeface="Calibri" pitchFamily="34" charset="-120"/>
              </a:rPr>
              <a:t>Sélection restreinte de prêt-à-porter haut de gamme, ajustée sur place.</a:t>
            </a:r>
            <a:endParaRPr lang="en-US" sz="1200" dirty="0"/>
          </a:p>
        </p:txBody>
      </p:sp>
      <p:sp>
        <p:nvSpPr>
          <p:cNvPr id="20" name="Text 18"/>
          <p:cNvSpPr/>
          <p:nvPr/>
        </p:nvSpPr>
        <p:spPr>
          <a:xfrm>
            <a:off x="8412480" y="4572000"/>
            <a:ext cx="2971800" cy="274320"/>
          </a:xfrm>
          <a:prstGeom prst="rect">
            <a:avLst/>
          </a:prstGeom>
          <a:noFill/>
          <a:ln/>
        </p:spPr>
        <p:txBody>
          <a:bodyPr wrap="square" rtlCol="0" anchor="ctr"/>
          <a:lstStyle/>
          <a:p>
            <a:pPr indent="0" marL="0">
              <a:buNone/>
            </a:pPr>
            <a:r>
              <a:rPr lang="en-US" sz="950" b="1" spc="100" kern="0" dirty="0">
                <a:solidFill>
                  <a:srgbClr val="C9A96A"/>
                </a:solidFill>
                <a:latin typeface="Calibri" pitchFamily="34" charset="0"/>
                <a:ea typeface="Calibri" pitchFamily="34" charset="-122"/>
                <a:cs typeface="Calibri" pitchFamily="34" charset="-120"/>
              </a:rPr>
              <a:t>CLIENT CIBLE</a:t>
            </a:r>
            <a:endParaRPr lang="en-US" sz="950" dirty="0"/>
          </a:p>
        </p:txBody>
      </p:sp>
      <p:sp>
        <p:nvSpPr>
          <p:cNvPr id="21" name="Text 19"/>
          <p:cNvSpPr/>
          <p:nvPr/>
        </p:nvSpPr>
        <p:spPr>
          <a:xfrm>
            <a:off x="8412480" y="4846320"/>
            <a:ext cx="2971800" cy="594360"/>
          </a:xfrm>
          <a:prstGeom prst="rect">
            <a:avLst/>
          </a:prstGeom>
          <a:noFill/>
          <a:ln/>
        </p:spPr>
        <p:txBody>
          <a:bodyPr wrap="square" rtlCol="0" anchor="ctr"/>
          <a:lstStyle/>
          <a:p>
            <a:pPr indent="0" marL="0">
              <a:buNone/>
            </a:pPr>
            <a:r>
              <a:rPr lang="en-US" sz="1100" i="1" dirty="0">
                <a:solidFill>
                  <a:srgbClr val="B8B8B8"/>
                </a:solidFill>
                <a:latin typeface="Calibri" pitchFamily="34" charset="0"/>
                <a:ea typeface="Calibri" pitchFamily="34" charset="-122"/>
                <a:cs typeface="Calibri" pitchFamily="34" charset="-120"/>
              </a:rPr>
              <a:t>Point d'entrée vers la clientèle du sur-mesure</a:t>
            </a:r>
            <a:endParaRPr lang="en-US" sz="1100" dirty="0"/>
          </a:p>
        </p:txBody>
      </p:sp>
      <p:sp>
        <p:nvSpPr>
          <p:cNvPr id="22" name="Text 20"/>
          <p:cNvSpPr/>
          <p:nvPr/>
        </p:nvSpPr>
        <p:spPr>
          <a:xfrm>
            <a:off x="457200" y="6510528"/>
            <a:ext cx="5486400" cy="274320"/>
          </a:xfrm>
          <a:prstGeom prst="rect">
            <a:avLst/>
          </a:prstGeom>
          <a:noFill/>
          <a:ln/>
        </p:spPr>
        <p:txBody>
          <a:bodyPr wrap="square" rtlCol="0" anchor="ctr"/>
          <a:lstStyle/>
          <a:p>
            <a:pPr algn="l" indent="0" marL="0">
              <a:buNone/>
            </a:pPr>
            <a:r>
              <a:rPr lang="en-US" sz="900" dirty="0">
                <a:solidFill>
                  <a:srgbClr val="8A8A8A"/>
                </a:solidFill>
                <a:latin typeface="Calibri" pitchFamily="34" charset="0"/>
                <a:ea typeface="Calibri" pitchFamily="34" charset="-122"/>
                <a:cs typeface="Calibri" pitchFamily="34" charset="-120"/>
              </a:rPr>
              <a:t>Boutique Tailleur Mark 109</a:t>
            </a:r>
            <a:endParaRPr lang="en-US" sz="900" dirty="0"/>
          </a:p>
        </p:txBody>
      </p:sp>
      <p:sp>
        <p:nvSpPr>
          <p:cNvPr id="23" name="Text 21"/>
          <p:cNvSpPr/>
          <p:nvPr/>
        </p:nvSpPr>
        <p:spPr>
          <a:xfrm>
            <a:off x="11338560" y="6510528"/>
            <a:ext cx="365760" cy="274320"/>
          </a:xfrm>
          <a:prstGeom prst="rect">
            <a:avLst/>
          </a:prstGeom>
          <a:noFill/>
          <a:ln/>
        </p:spPr>
        <p:txBody>
          <a:bodyPr wrap="square"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9C7A3C"/>
                </a:solidFill>
                <a:latin typeface="Calibri" pitchFamily="34" charset="0"/>
                <a:ea typeface="Calibri" pitchFamily="34" charset="-122"/>
                <a:cs typeface="Calibri" pitchFamily="34" charset="-120"/>
              </a:rPr>
              <a:t>PILIER 3</a:t>
            </a:r>
            <a:endParaRPr lang="en-US" sz="1300" dirty="0"/>
          </a:p>
        </p:txBody>
      </p:sp>
      <p:sp>
        <p:nvSpPr>
          <p:cNvPr id="3" name="Text 1"/>
          <p:cNvSpPr/>
          <p:nvPr/>
        </p:nvSpPr>
        <p:spPr>
          <a:xfrm>
            <a:off x="548640" y="713232"/>
            <a:ext cx="10515600" cy="822960"/>
          </a:xfrm>
          <a:prstGeom prst="rect">
            <a:avLst/>
          </a:prstGeom>
          <a:noFill/>
          <a:ln/>
        </p:spPr>
        <p:txBody>
          <a:bodyPr wrap="square" rtlCol="0" anchor="ctr"/>
          <a:lstStyle/>
          <a:p>
            <a:pPr indent="0" marL="0">
              <a:buNone/>
            </a:pPr>
            <a:r>
              <a:rPr lang="en-US" sz="3000" b="1" dirty="0">
                <a:solidFill>
                  <a:srgbClr val="1E1E1E"/>
                </a:solidFill>
                <a:latin typeface="Cambria" pitchFamily="34" charset="0"/>
                <a:ea typeface="Cambria" pitchFamily="34" charset="-122"/>
                <a:cs typeface="Cambria" pitchFamily="34" charset="-120"/>
              </a:rPr>
              <a:t>Les paliers de prix comme signal de qualité</a:t>
            </a:r>
            <a:endParaRPr lang="en-US" sz="3000" dirty="0"/>
          </a:p>
        </p:txBody>
      </p:sp>
      <p:sp>
        <p:nvSpPr>
          <p:cNvPr id="4" name="Text 2"/>
          <p:cNvSpPr/>
          <p:nvPr/>
        </p:nvSpPr>
        <p:spPr>
          <a:xfrm>
            <a:off x="548640" y="1554480"/>
            <a:ext cx="10515600" cy="457200"/>
          </a:xfrm>
          <a:prstGeom prst="rect">
            <a:avLst/>
          </a:prstGeom>
          <a:noFill/>
          <a:ln/>
        </p:spPr>
        <p:txBody>
          <a:bodyPr wrap="square" rtlCol="0" anchor="ctr"/>
          <a:lstStyle/>
          <a:p>
            <a:pPr indent="0" marL="0">
              <a:buNone/>
            </a:pPr>
            <a:r>
              <a:rPr lang="en-US" sz="1350" i="1" dirty="0">
                <a:solidFill>
                  <a:srgbClr val="6B6B6B"/>
                </a:solidFill>
                <a:latin typeface="Calibri" pitchFamily="34" charset="0"/>
                <a:ea typeface="Calibri" pitchFamily="34" charset="-122"/>
                <a:cs typeface="Calibri" pitchFamily="34" charset="-120"/>
              </a:rPr>
              <a:t>Pas une liste de prix rigide — des repères « à partir de » qui permettent au client de se situer et renforcent, plutôt qu'ils ne diminuent, la perception d'exclusivité.</a:t>
            </a:r>
            <a:endParaRPr lang="en-US" sz="1350" dirty="0"/>
          </a:p>
        </p:txBody>
      </p:sp>
      <p:sp>
        <p:nvSpPr>
          <p:cNvPr id="5" name="Shape 3"/>
          <p:cNvSpPr/>
          <p:nvPr/>
        </p:nvSpPr>
        <p:spPr>
          <a:xfrm>
            <a:off x="548640" y="2286000"/>
            <a:ext cx="3520440" cy="3383280"/>
          </a:xfrm>
          <a:prstGeom prst="roundRect">
            <a:avLst>
              <a:gd name="adj" fmla="val 2162"/>
            </a:avLst>
          </a:prstGeom>
          <a:solidFill>
            <a:srgbClr val="F4F4F4"/>
          </a:solidFill>
          <a:ln w="9525">
            <a:solidFill>
              <a:srgbClr val="E0E0E0"/>
            </a:solidFill>
            <a:prstDash val="solid"/>
          </a:ln>
        </p:spPr>
      </p:sp>
      <p:sp>
        <p:nvSpPr>
          <p:cNvPr id="6" name="Text 4"/>
          <p:cNvSpPr/>
          <p:nvPr/>
        </p:nvSpPr>
        <p:spPr>
          <a:xfrm>
            <a:off x="822960" y="2606040"/>
            <a:ext cx="2971800" cy="411480"/>
          </a:xfrm>
          <a:prstGeom prst="rect">
            <a:avLst/>
          </a:prstGeom>
          <a:noFill/>
          <a:ln/>
        </p:spPr>
        <p:txBody>
          <a:bodyPr wrap="square" rtlCol="0" anchor="ctr"/>
          <a:lstStyle/>
          <a:p>
            <a:pPr indent="0" marL="0">
              <a:buNone/>
            </a:pPr>
            <a:r>
              <a:rPr lang="en-US" sz="1200" b="1" spc="100" kern="0" dirty="0">
                <a:solidFill>
                  <a:srgbClr val="9C7A3C"/>
                </a:solidFill>
                <a:latin typeface="Calibri" pitchFamily="34" charset="0"/>
                <a:ea typeface="Calibri" pitchFamily="34" charset="-122"/>
                <a:cs typeface="Calibri" pitchFamily="34" charset="-120"/>
              </a:rPr>
              <a:t>Essentiel</a:t>
            </a:r>
            <a:endParaRPr lang="en-US" sz="1200" dirty="0"/>
          </a:p>
        </p:txBody>
      </p:sp>
      <p:sp>
        <p:nvSpPr>
          <p:cNvPr id="7" name="Text 5"/>
          <p:cNvSpPr/>
          <p:nvPr/>
        </p:nvSpPr>
        <p:spPr>
          <a:xfrm>
            <a:off x="822960" y="3063240"/>
            <a:ext cx="2971800" cy="548640"/>
          </a:xfrm>
          <a:prstGeom prst="rect">
            <a:avLst/>
          </a:prstGeom>
          <a:noFill/>
          <a:ln/>
        </p:spPr>
        <p:txBody>
          <a:bodyPr wrap="square" rtlCol="0" anchor="ctr"/>
          <a:lstStyle/>
          <a:p>
            <a:pPr indent="0" marL="0">
              <a:buNone/>
            </a:pPr>
            <a:r>
              <a:rPr lang="en-US" sz="1900" b="1" dirty="0">
                <a:solidFill>
                  <a:srgbClr val="1E1E1E"/>
                </a:solidFill>
                <a:latin typeface="Cambria" pitchFamily="34" charset="0"/>
                <a:ea typeface="Cambria" pitchFamily="34" charset="-122"/>
                <a:cs typeface="Cambria" pitchFamily="34" charset="-120"/>
              </a:rPr>
              <a:t>Retouche standard</a:t>
            </a:r>
            <a:endParaRPr lang="en-US" sz="1900" dirty="0"/>
          </a:p>
        </p:txBody>
      </p:sp>
      <p:sp>
        <p:nvSpPr>
          <p:cNvPr id="8" name="Text 6"/>
          <p:cNvSpPr/>
          <p:nvPr/>
        </p:nvSpPr>
        <p:spPr>
          <a:xfrm>
            <a:off x="822960" y="3749040"/>
            <a:ext cx="2971800" cy="1188720"/>
          </a:xfrm>
          <a:prstGeom prst="rect">
            <a:avLst/>
          </a:prstGeom>
          <a:noFill/>
          <a:ln/>
        </p:spPr>
        <p:txBody>
          <a:bodyPr wrap="square" rtlCol="0" anchor="ctr"/>
          <a:lstStyle/>
          <a:p>
            <a:pPr indent="0" marL="0">
              <a:lnSpc>
                <a:spcPct val="125000"/>
              </a:lnSpc>
              <a:buNone/>
            </a:pPr>
            <a:r>
              <a:rPr lang="en-US" sz="1200" dirty="0">
                <a:solidFill>
                  <a:srgbClr val="6B6B6B"/>
                </a:solidFill>
                <a:latin typeface="Calibri" pitchFamily="34" charset="0"/>
                <a:ea typeface="Calibri" pitchFamily="34" charset="-122"/>
                <a:cs typeface="Calibri" pitchFamily="34" charset="-120"/>
              </a:rPr>
              <a:t>Ourlet, ajustement simple — toujours encadré par une consultation.</a:t>
            </a:r>
            <a:endParaRPr lang="en-US" sz="1200" dirty="0"/>
          </a:p>
        </p:txBody>
      </p:sp>
      <p:sp>
        <p:nvSpPr>
          <p:cNvPr id="9" name="Shape 7"/>
          <p:cNvSpPr/>
          <p:nvPr/>
        </p:nvSpPr>
        <p:spPr>
          <a:xfrm>
            <a:off x="4343400" y="2148840"/>
            <a:ext cx="3520440" cy="3657600"/>
          </a:xfrm>
          <a:prstGeom prst="roundRect">
            <a:avLst>
              <a:gd name="adj" fmla="val 2078"/>
            </a:avLst>
          </a:prstGeom>
          <a:solidFill>
            <a:srgbClr val="1E1E1E"/>
          </a:solidFill>
          <a:ln w="15875">
            <a:solidFill>
              <a:srgbClr val="9C7A3C"/>
            </a:solidFill>
            <a:prstDash val="solid"/>
          </a:ln>
        </p:spPr>
      </p:sp>
      <p:sp>
        <p:nvSpPr>
          <p:cNvPr id="10" name="Text 8"/>
          <p:cNvSpPr/>
          <p:nvPr/>
        </p:nvSpPr>
        <p:spPr>
          <a:xfrm>
            <a:off x="4617720" y="2468880"/>
            <a:ext cx="2971800" cy="411480"/>
          </a:xfrm>
          <a:prstGeom prst="rect">
            <a:avLst/>
          </a:prstGeom>
          <a:noFill/>
          <a:ln/>
        </p:spPr>
        <p:txBody>
          <a:bodyPr wrap="square" rtlCol="0" anchor="ctr"/>
          <a:lstStyle/>
          <a:p>
            <a:pPr indent="0" marL="0">
              <a:buNone/>
            </a:pPr>
            <a:r>
              <a:rPr lang="en-US" sz="1200" b="1" spc="100" kern="0" dirty="0">
                <a:solidFill>
                  <a:srgbClr val="C9A96A"/>
                </a:solidFill>
                <a:latin typeface="Calibri" pitchFamily="34" charset="0"/>
                <a:ea typeface="Calibri" pitchFamily="34" charset="-122"/>
                <a:cs typeface="Calibri" pitchFamily="34" charset="-120"/>
              </a:rPr>
              <a:t>Signature</a:t>
            </a:r>
            <a:endParaRPr lang="en-US" sz="1200" dirty="0"/>
          </a:p>
        </p:txBody>
      </p:sp>
      <p:sp>
        <p:nvSpPr>
          <p:cNvPr id="11" name="Text 9"/>
          <p:cNvSpPr/>
          <p:nvPr/>
        </p:nvSpPr>
        <p:spPr>
          <a:xfrm>
            <a:off x="4617720" y="2926080"/>
            <a:ext cx="2971800" cy="548640"/>
          </a:xfrm>
          <a:prstGeom prst="rect">
            <a:avLst/>
          </a:prstGeom>
          <a:noFill/>
          <a:ln/>
        </p:spPr>
        <p:txBody>
          <a:bodyPr wrap="square"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Retouche de pièce fine</a:t>
            </a:r>
            <a:endParaRPr lang="en-US" sz="1900" dirty="0"/>
          </a:p>
        </p:txBody>
      </p:sp>
      <p:sp>
        <p:nvSpPr>
          <p:cNvPr id="12" name="Text 10"/>
          <p:cNvSpPr/>
          <p:nvPr/>
        </p:nvSpPr>
        <p:spPr>
          <a:xfrm>
            <a:off x="4617720" y="3611880"/>
            <a:ext cx="2971800" cy="1188720"/>
          </a:xfrm>
          <a:prstGeom prst="rect">
            <a:avLst/>
          </a:prstGeom>
          <a:noFill/>
          <a:ln/>
        </p:spPr>
        <p:txBody>
          <a:bodyPr wrap="square" rtlCol="0" anchor="ctr"/>
          <a:lstStyle/>
          <a:p>
            <a:pPr indent="0" marL="0">
              <a:lnSpc>
                <a:spcPct val="125000"/>
              </a:lnSpc>
              <a:buNone/>
            </a:pPr>
            <a:r>
              <a:rPr lang="en-US" sz="1200" dirty="0">
                <a:solidFill>
                  <a:srgbClr val="D0D0D0"/>
                </a:solidFill>
                <a:latin typeface="Calibri" pitchFamily="34" charset="0"/>
                <a:ea typeface="Calibri" pitchFamily="34" charset="-122"/>
                <a:cs typeface="Calibri" pitchFamily="34" charset="-120"/>
              </a:rPr>
              <a:t>Créateur ou tissu délicat — expertise spécialisée.</a:t>
            </a:r>
            <a:endParaRPr lang="en-US" sz="1200" dirty="0"/>
          </a:p>
        </p:txBody>
      </p:sp>
      <p:sp>
        <p:nvSpPr>
          <p:cNvPr id="13" name="Shape 11"/>
          <p:cNvSpPr/>
          <p:nvPr/>
        </p:nvSpPr>
        <p:spPr>
          <a:xfrm>
            <a:off x="8138160" y="2286000"/>
            <a:ext cx="3520440" cy="3383280"/>
          </a:xfrm>
          <a:prstGeom prst="roundRect">
            <a:avLst>
              <a:gd name="adj" fmla="val 2162"/>
            </a:avLst>
          </a:prstGeom>
          <a:solidFill>
            <a:srgbClr val="F4F4F4"/>
          </a:solidFill>
          <a:ln w="9525">
            <a:solidFill>
              <a:srgbClr val="E0E0E0"/>
            </a:solidFill>
            <a:prstDash val="solid"/>
          </a:ln>
        </p:spPr>
      </p:sp>
      <p:sp>
        <p:nvSpPr>
          <p:cNvPr id="14" name="Text 12"/>
          <p:cNvSpPr/>
          <p:nvPr/>
        </p:nvSpPr>
        <p:spPr>
          <a:xfrm>
            <a:off x="8412480" y="2606040"/>
            <a:ext cx="2971800" cy="411480"/>
          </a:xfrm>
          <a:prstGeom prst="rect">
            <a:avLst/>
          </a:prstGeom>
          <a:noFill/>
          <a:ln/>
        </p:spPr>
        <p:txBody>
          <a:bodyPr wrap="square" rtlCol="0" anchor="ctr"/>
          <a:lstStyle/>
          <a:p>
            <a:pPr indent="0" marL="0">
              <a:buNone/>
            </a:pPr>
            <a:r>
              <a:rPr lang="en-US" sz="1200" b="1" spc="100" kern="0" dirty="0">
                <a:solidFill>
                  <a:srgbClr val="9C7A3C"/>
                </a:solidFill>
                <a:latin typeface="Calibri" pitchFamily="34" charset="0"/>
                <a:ea typeface="Calibri" pitchFamily="34" charset="-122"/>
                <a:cs typeface="Calibri" pitchFamily="34" charset="-120"/>
              </a:rPr>
              <a:t>Sur-mesure intégral</a:t>
            </a:r>
            <a:endParaRPr lang="en-US" sz="1200" dirty="0"/>
          </a:p>
        </p:txBody>
      </p:sp>
      <p:sp>
        <p:nvSpPr>
          <p:cNvPr id="15" name="Text 13"/>
          <p:cNvSpPr/>
          <p:nvPr/>
        </p:nvSpPr>
        <p:spPr>
          <a:xfrm>
            <a:off x="8412480" y="3063240"/>
            <a:ext cx="2971800" cy="548640"/>
          </a:xfrm>
          <a:prstGeom prst="rect">
            <a:avLst/>
          </a:prstGeom>
          <a:noFill/>
          <a:ln/>
        </p:spPr>
        <p:txBody>
          <a:bodyPr wrap="square" rtlCol="0" anchor="ctr"/>
          <a:lstStyle/>
          <a:p>
            <a:pPr indent="0" marL="0">
              <a:buNone/>
            </a:pPr>
            <a:r>
              <a:rPr lang="en-US" sz="1900" b="1" dirty="0">
                <a:solidFill>
                  <a:srgbClr val="1E1E1E"/>
                </a:solidFill>
                <a:latin typeface="Cambria" pitchFamily="34" charset="0"/>
                <a:ea typeface="Cambria" pitchFamily="34" charset="-122"/>
                <a:cs typeface="Cambria" pitchFamily="34" charset="-120"/>
              </a:rPr>
              <a:t>Création complète</a:t>
            </a:r>
            <a:endParaRPr lang="en-US" sz="1900" dirty="0"/>
          </a:p>
        </p:txBody>
      </p:sp>
      <p:sp>
        <p:nvSpPr>
          <p:cNvPr id="16" name="Text 14"/>
          <p:cNvSpPr/>
          <p:nvPr/>
        </p:nvSpPr>
        <p:spPr>
          <a:xfrm>
            <a:off x="8412480" y="3749040"/>
            <a:ext cx="2971800" cy="1188720"/>
          </a:xfrm>
          <a:prstGeom prst="rect">
            <a:avLst/>
          </a:prstGeom>
          <a:noFill/>
          <a:ln/>
        </p:spPr>
        <p:txBody>
          <a:bodyPr wrap="square" rtlCol="0" anchor="ctr"/>
          <a:lstStyle/>
          <a:p>
            <a:pPr indent="0" marL="0">
              <a:lnSpc>
                <a:spcPct val="125000"/>
              </a:lnSpc>
              <a:buNone/>
            </a:pPr>
            <a:r>
              <a:rPr lang="en-US" sz="1200" dirty="0">
                <a:solidFill>
                  <a:srgbClr val="6B6B6B"/>
                </a:solidFill>
                <a:latin typeface="Calibri" pitchFamily="34" charset="0"/>
                <a:ea typeface="Calibri" pitchFamily="34" charset="-122"/>
                <a:cs typeface="Calibri" pitchFamily="34" charset="-120"/>
              </a:rPr>
              <a:t>Du choix du tissu à la livraison — l'expérience complète.</a:t>
            </a:r>
            <a:endParaRPr lang="en-US" sz="1200" dirty="0"/>
          </a:p>
        </p:txBody>
      </p:sp>
      <p:sp>
        <p:nvSpPr>
          <p:cNvPr id="17" name="Text 15"/>
          <p:cNvSpPr/>
          <p:nvPr/>
        </p:nvSpPr>
        <p:spPr>
          <a:xfrm>
            <a:off x="457200" y="6510528"/>
            <a:ext cx="5486400" cy="274320"/>
          </a:xfrm>
          <a:prstGeom prst="rect">
            <a:avLst/>
          </a:prstGeom>
          <a:noFill/>
          <a:ln/>
        </p:spPr>
        <p:txBody>
          <a:bodyPr wrap="square" rtlCol="0" anchor="ctr"/>
          <a:lstStyle/>
          <a:p>
            <a:pPr algn="l" indent="0" marL="0">
              <a:buNone/>
            </a:pPr>
            <a:r>
              <a:rPr lang="en-US" sz="900" dirty="0">
                <a:solidFill>
                  <a:srgbClr val="A9A9A9"/>
                </a:solidFill>
                <a:latin typeface="Calibri" pitchFamily="34" charset="0"/>
                <a:ea typeface="Calibri" pitchFamily="34" charset="-122"/>
                <a:cs typeface="Calibri" pitchFamily="34" charset="-120"/>
              </a:rPr>
              <a:t>Boutique Tailleur Mark 109</a:t>
            </a:r>
            <a:endParaRPr lang="en-US" sz="900" dirty="0"/>
          </a:p>
        </p:txBody>
      </p:sp>
      <p:sp>
        <p:nvSpPr>
          <p:cNvPr id="18" name="Text 16"/>
          <p:cNvSpPr/>
          <p:nvPr/>
        </p:nvSpPr>
        <p:spPr>
          <a:xfrm>
            <a:off x="11338560" y="6510528"/>
            <a:ext cx="365760" cy="274320"/>
          </a:xfrm>
          <a:prstGeom prst="rect">
            <a:avLst/>
          </a:prstGeom>
          <a:noFill/>
          <a:ln/>
        </p:spPr>
        <p:txBody>
          <a:bodyPr wrap="square" rtlCol="0" anchor="ctr"/>
          <a:lstStyle/>
          <a:p>
            <a:pPr algn="r" indent="0" marL="0">
              <a:buNone/>
            </a:pPr>
            <a:r>
              <a:rPr lang="en-US" sz="900" dirty="0">
                <a:solidFill>
                  <a:srgbClr val="A9A9A9"/>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1E1E"/>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C9A96A"/>
                </a:solidFill>
                <a:latin typeface="Calibri" pitchFamily="34" charset="0"/>
                <a:ea typeface="Calibri" pitchFamily="34" charset="-122"/>
                <a:cs typeface="Calibri" pitchFamily="34" charset="-120"/>
              </a:rPr>
              <a:t>PILIER 4</a:t>
            </a:r>
            <a:endParaRPr lang="en-US" sz="1300" dirty="0"/>
          </a:p>
        </p:txBody>
      </p:sp>
      <p:sp>
        <p:nvSpPr>
          <p:cNvPr id="3" name="Text 1"/>
          <p:cNvSpPr/>
          <p:nvPr/>
        </p:nvSpPr>
        <p:spPr>
          <a:xfrm>
            <a:off x="548640" y="713232"/>
            <a:ext cx="10515600" cy="82296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La présence numérique repensée</a:t>
            </a:r>
            <a:endParaRPr lang="en-US" sz="3000" dirty="0"/>
          </a:p>
        </p:txBody>
      </p:sp>
      <p:sp>
        <p:nvSpPr>
          <p:cNvPr id="4" name="Shape 2"/>
          <p:cNvSpPr/>
          <p:nvPr/>
        </p:nvSpPr>
        <p:spPr>
          <a:xfrm>
            <a:off x="548640" y="1874520"/>
            <a:ext cx="5349240" cy="1554480"/>
          </a:xfrm>
          <a:prstGeom prst="roundRect">
            <a:avLst>
              <a:gd name="adj" fmla="val 4706"/>
            </a:avLst>
          </a:prstGeom>
          <a:solidFill>
            <a:srgbClr val="2B2B2B"/>
          </a:solidFill>
          <a:ln w="9525">
            <a:solidFill>
              <a:srgbClr val="3A3A3A"/>
            </a:solidFill>
            <a:prstDash val="solid"/>
          </a:ln>
        </p:spPr>
      </p:sp>
      <p:sp>
        <p:nvSpPr>
          <p:cNvPr id="5" name="Shape 3"/>
          <p:cNvSpPr/>
          <p:nvPr/>
        </p:nvSpPr>
        <p:spPr>
          <a:xfrm>
            <a:off x="822960" y="2148840"/>
            <a:ext cx="457200" cy="457200"/>
          </a:xfrm>
          <a:prstGeom prst="ellipse">
            <a:avLst/>
          </a:prstGeom>
          <a:solidFill>
            <a:srgbClr val="9C7A3C"/>
          </a:solidFill>
          <a:ln/>
        </p:spPr>
      </p:sp>
      <p:sp>
        <p:nvSpPr>
          <p:cNvPr id="6" name="Text 4"/>
          <p:cNvSpPr/>
          <p:nvPr/>
        </p:nvSpPr>
        <p:spPr>
          <a:xfrm>
            <a:off x="822960" y="2148840"/>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463040" y="2075688"/>
            <a:ext cx="416052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Site web</a:t>
            </a:r>
            <a:endParaRPr lang="en-US" sz="1500" dirty="0"/>
          </a:p>
        </p:txBody>
      </p:sp>
      <p:sp>
        <p:nvSpPr>
          <p:cNvPr id="8" name="Text 6"/>
          <p:cNvSpPr/>
          <p:nvPr/>
        </p:nvSpPr>
        <p:spPr>
          <a:xfrm>
            <a:off x="1463040" y="2468880"/>
            <a:ext cx="4160520" cy="822960"/>
          </a:xfrm>
          <a:prstGeom prst="rect">
            <a:avLst/>
          </a:prstGeom>
          <a:noFill/>
          <a:ln/>
        </p:spPr>
        <p:txBody>
          <a:bodyPr wrap="square" rtlCol="0" anchor="ctr"/>
          <a:lstStyle/>
          <a:p>
            <a:pPr indent="0" marL="0">
              <a:lnSpc>
                <a:spcPct val="125000"/>
              </a:lnSpc>
              <a:buNone/>
            </a:pPr>
            <a:r>
              <a:rPr lang="en-US" sz="1200" dirty="0">
                <a:solidFill>
                  <a:srgbClr val="C7C7C7"/>
                </a:solidFill>
                <a:latin typeface="Calibri" pitchFamily="34" charset="0"/>
                <a:ea typeface="Calibri" pitchFamily="34" charset="-122"/>
                <a:cs typeface="Calibri" pitchFamily="34" charset="-120"/>
              </a:rPr>
              <a:t>Remplacer le formulaire générique par un système de réservation de consultation.</a:t>
            </a:r>
            <a:endParaRPr lang="en-US" sz="1200" dirty="0"/>
          </a:p>
        </p:txBody>
      </p:sp>
      <p:sp>
        <p:nvSpPr>
          <p:cNvPr id="9" name="Shape 7"/>
          <p:cNvSpPr/>
          <p:nvPr/>
        </p:nvSpPr>
        <p:spPr>
          <a:xfrm>
            <a:off x="6263640" y="1874520"/>
            <a:ext cx="5349240" cy="1554480"/>
          </a:xfrm>
          <a:prstGeom prst="roundRect">
            <a:avLst>
              <a:gd name="adj" fmla="val 4706"/>
            </a:avLst>
          </a:prstGeom>
          <a:solidFill>
            <a:srgbClr val="2B2B2B"/>
          </a:solidFill>
          <a:ln w="9525">
            <a:solidFill>
              <a:srgbClr val="3A3A3A"/>
            </a:solidFill>
            <a:prstDash val="solid"/>
          </a:ln>
        </p:spPr>
      </p:sp>
      <p:sp>
        <p:nvSpPr>
          <p:cNvPr id="10" name="Shape 8"/>
          <p:cNvSpPr/>
          <p:nvPr/>
        </p:nvSpPr>
        <p:spPr>
          <a:xfrm>
            <a:off x="6537960" y="2148840"/>
            <a:ext cx="457200" cy="457200"/>
          </a:xfrm>
          <a:prstGeom prst="ellipse">
            <a:avLst/>
          </a:prstGeom>
          <a:solidFill>
            <a:srgbClr val="9C7A3C"/>
          </a:solidFill>
          <a:ln/>
        </p:spPr>
      </p:sp>
      <p:sp>
        <p:nvSpPr>
          <p:cNvPr id="11" name="Text 9"/>
          <p:cNvSpPr/>
          <p:nvPr/>
        </p:nvSpPr>
        <p:spPr>
          <a:xfrm>
            <a:off x="6537960" y="2148840"/>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7178040" y="2075688"/>
            <a:ext cx="416052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Instagram</a:t>
            </a:r>
            <a:endParaRPr lang="en-US" sz="1500" dirty="0"/>
          </a:p>
        </p:txBody>
      </p:sp>
      <p:sp>
        <p:nvSpPr>
          <p:cNvPr id="13" name="Text 11"/>
          <p:cNvSpPr/>
          <p:nvPr/>
        </p:nvSpPr>
        <p:spPr>
          <a:xfrm>
            <a:off x="7178040" y="2468880"/>
            <a:ext cx="4160520" cy="822960"/>
          </a:xfrm>
          <a:prstGeom prst="rect">
            <a:avLst/>
          </a:prstGeom>
          <a:noFill/>
          <a:ln/>
        </p:spPr>
        <p:txBody>
          <a:bodyPr wrap="square" rtlCol="0" anchor="ctr"/>
          <a:lstStyle/>
          <a:p>
            <a:pPr indent="0" marL="0">
              <a:lnSpc>
                <a:spcPct val="125000"/>
              </a:lnSpc>
              <a:buNone/>
            </a:pPr>
            <a:r>
              <a:rPr lang="en-US" sz="1200" dirty="0">
                <a:solidFill>
                  <a:srgbClr val="C7C7C7"/>
                </a:solidFill>
                <a:latin typeface="Calibri" pitchFamily="34" charset="0"/>
                <a:ea typeface="Calibri" pitchFamily="34" charset="-122"/>
                <a:cs typeface="Calibri" pitchFamily="34" charset="-120"/>
              </a:rPr>
              <a:t>Ouverture d'un compte dédié : coulisses de l'atelier, tissus, créations, avant/après.</a:t>
            </a:r>
            <a:endParaRPr lang="en-US" sz="1200" dirty="0"/>
          </a:p>
        </p:txBody>
      </p:sp>
      <p:sp>
        <p:nvSpPr>
          <p:cNvPr id="14" name="Shape 12"/>
          <p:cNvSpPr/>
          <p:nvPr/>
        </p:nvSpPr>
        <p:spPr>
          <a:xfrm>
            <a:off x="548640" y="3703320"/>
            <a:ext cx="5349240" cy="1554480"/>
          </a:xfrm>
          <a:prstGeom prst="roundRect">
            <a:avLst>
              <a:gd name="adj" fmla="val 4706"/>
            </a:avLst>
          </a:prstGeom>
          <a:solidFill>
            <a:srgbClr val="2B2B2B"/>
          </a:solidFill>
          <a:ln w="9525">
            <a:solidFill>
              <a:srgbClr val="3A3A3A"/>
            </a:solidFill>
            <a:prstDash val="solid"/>
          </a:ln>
        </p:spPr>
      </p:sp>
      <p:sp>
        <p:nvSpPr>
          <p:cNvPr id="15" name="Shape 13"/>
          <p:cNvSpPr/>
          <p:nvPr/>
        </p:nvSpPr>
        <p:spPr>
          <a:xfrm>
            <a:off x="822960" y="3977640"/>
            <a:ext cx="457200" cy="457200"/>
          </a:xfrm>
          <a:prstGeom prst="ellipse">
            <a:avLst/>
          </a:prstGeom>
          <a:solidFill>
            <a:srgbClr val="9C7A3C"/>
          </a:solidFill>
          <a:ln/>
        </p:spPr>
      </p:sp>
      <p:sp>
        <p:nvSpPr>
          <p:cNvPr id="16" name="Text 14"/>
          <p:cNvSpPr/>
          <p:nvPr/>
        </p:nvSpPr>
        <p:spPr>
          <a:xfrm>
            <a:off x="822960" y="3977640"/>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1463040" y="3904488"/>
            <a:ext cx="416052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Témoignages</a:t>
            </a:r>
            <a:endParaRPr lang="en-US" sz="1500" dirty="0"/>
          </a:p>
        </p:txBody>
      </p:sp>
      <p:sp>
        <p:nvSpPr>
          <p:cNvPr id="18" name="Text 16"/>
          <p:cNvSpPr/>
          <p:nvPr/>
        </p:nvSpPr>
        <p:spPr>
          <a:xfrm>
            <a:off x="1463040" y="4297680"/>
            <a:ext cx="4160520" cy="822960"/>
          </a:xfrm>
          <a:prstGeom prst="rect">
            <a:avLst/>
          </a:prstGeom>
          <a:noFill/>
          <a:ln/>
        </p:spPr>
        <p:txBody>
          <a:bodyPr wrap="square" rtlCol="0" anchor="ctr"/>
          <a:lstStyle/>
          <a:p>
            <a:pPr indent="0" marL="0">
              <a:lnSpc>
                <a:spcPct val="125000"/>
              </a:lnSpc>
              <a:buNone/>
            </a:pPr>
            <a:r>
              <a:rPr lang="en-US" sz="1200" dirty="0">
                <a:solidFill>
                  <a:srgbClr val="C7C7C7"/>
                </a:solidFill>
                <a:latin typeface="Calibri" pitchFamily="34" charset="0"/>
                <a:ea typeface="Calibri" pitchFamily="34" charset="-122"/>
                <a:cs typeface="Calibri" pitchFamily="34" charset="-120"/>
              </a:rPr>
              <a:t>Solliciter la permission de quelques clients notables pour partager leur expérience.</a:t>
            </a:r>
            <a:endParaRPr lang="en-US" sz="1200" dirty="0"/>
          </a:p>
        </p:txBody>
      </p:sp>
      <p:sp>
        <p:nvSpPr>
          <p:cNvPr id="19" name="Shape 17"/>
          <p:cNvSpPr/>
          <p:nvPr/>
        </p:nvSpPr>
        <p:spPr>
          <a:xfrm>
            <a:off x="6263640" y="3703320"/>
            <a:ext cx="5349240" cy="1554480"/>
          </a:xfrm>
          <a:prstGeom prst="roundRect">
            <a:avLst>
              <a:gd name="adj" fmla="val 4706"/>
            </a:avLst>
          </a:prstGeom>
          <a:solidFill>
            <a:srgbClr val="2B2B2B"/>
          </a:solidFill>
          <a:ln w="9525">
            <a:solidFill>
              <a:srgbClr val="3A3A3A"/>
            </a:solidFill>
            <a:prstDash val="solid"/>
          </a:ln>
        </p:spPr>
      </p:sp>
      <p:sp>
        <p:nvSpPr>
          <p:cNvPr id="20" name="Shape 18"/>
          <p:cNvSpPr/>
          <p:nvPr/>
        </p:nvSpPr>
        <p:spPr>
          <a:xfrm>
            <a:off x="6537960" y="3977640"/>
            <a:ext cx="457200" cy="457200"/>
          </a:xfrm>
          <a:prstGeom prst="ellipse">
            <a:avLst/>
          </a:prstGeom>
          <a:solidFill>
            <a:srgbClr val="9C7A3C"/>
          </a:solidFill>
          <a:ln/>
        </p:spPr>
      </p:sp>
      <p:sp>
        <p:nvSpPr>
          <p:cNvPr id="21" name="Text 19"/>
          <p:cNvSpPr/>
          <p:nvPr/>
        </p:nvSpPr>
        <p:spPr>
          <a:xfrm>
            <a:off x="6537960" y="3977640"/>
            <a:ext cx="457200" cy="457200"/>
          </a:xfrm>
          <a:prstGeom prst="rect">
            <a:avLst/>
          </a:prstGeom>
          <a:noFill/>
          <a:ln/>
        </p:spPr>
        <p:txBody>
          <a:bodyPr wrap="square"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2" name="Text 20"/>
          <p:cNvSpPr/>
          <p:nvPr/>
        </p:nvSpPr>
        <p:spPr>
          <a:xfrm>
            <a:off x="7178040" y="3904488"/>
            <a:ext cx="416052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Preuve sociale</a:t>
            </a:r>
            <a:endParaRPr lang="en-US" sz="1500" dirty="0"/>
          </a:p>
        </p:txBody>
      </p:sp>
      <p:sp>
        <p:nvSpPr>
          <p:cNvPr id="23" name="Text 21"/>
          <p:cNvSpPr/>
          <p:nvPr/>
        </p:nvSpPr>
        <p:spPr>
          <a:xfrm>
            <a:off x="7178040" y="4297680"/>
            <a:ext cx="4160520" cy="822960"/>
          </a:xfrm>
          <a:prstGeom prst="rect">
            <a:avLst/>
          </a:prstGeom>
          <a:noFill/>
          <a:ln/>
        </p:spPr>
        <p:txBody>
          <a:bodyPr wrap="square" rtlCol="0" anchor="ctr"/>
          <a:lstStyle/>
          <a:p>
            <a:pPr indent="0" marL="0">
              <a:lnSpc>
                <a:spcPct val="125000"/>
              </a:lnSpc>
              <a:buNone/>
            </a:pPr>
            <a:r>
              <a:rPr lang="en-US" sz="1200" dirty="0">
                <a:solidFill>
                  <a:srgbClr val="C7C7C7"/>
                </a:solidFill>
                <a:latin typeface="Calibri" pitchFamily="34" charset="0"/>
                <a:ea typeface="Calibri" pitchFamily="34" charset="-122"/>
                <a:cs typeface="Calibri" pitchFamily="34" charset="-120"/>
              </a:rPr>
              <a:t>Mettre en avant la note Google, à la manière de Tailleur Prestige.</a:t>
            </a:r>
            <a:endParaRPr lang="en-US" sz="1200" dirty="0"/>
          </a:p>
        </p:txBody>
      </p:sp>
      <p:sp>
        <p:nvSpPr>
          <p:cNvPr id="24" name="Text 22"/>
          <p:cNvSpPr/>
          <p:nvPr/>
        </p:nvSpPr>
        <p:spPr>
          <a:xfrm>
            <a:off x="457200" y="6510528"/>
            <a:ext cx="5486400" cy="274320"/>
          </a:xfrm>
          <a:prstGeom prst="rect">
            <a:avLst/>
          </a:prstGeom>
          <a:noFill/>
          <a:ln/>
        </p:spPr>
        <p:txBody>
          <a:bodyPr wrap="square" rtlCol="0" anchor="ctr"/>
          <a:lstStyle/>
          <a:p>
            <a:pPr algn="l" indent="0" marL="0">
              <a:buNone/>
            </a:pPr>
            <a:r>
              <a:rPr lang="en-US" sz="900" dirty="0">
                <a:solidFill>
                  <a:srgbClr val="8A8A8A"/>
                </a:solidFill>
                <a:latin typeface="Calibri" pitchFamily="34" charset="0"/>
                <a:ea typeface="Calibri" pitchFamily="34" charset="-122"/>
                <a:cs typeface="Calibri" pitchFamily="34" charset="-120"/>
              </a:rPr>
              <a:t>Boutique Tailleur Mark 109</a:t>
            </a:r>
            <a:endParaRPr lang="en-US" sz="900" dirty="0"/>
          </a:p>
        </p:txBody>
      </p:sp>
      <p:sp>
        <p:nvSpPr>
          <p:cNvPr id="25" name="Text 23"/>
          <p:cNvSpPr/>
          <p:nvPr/>
        </p:nvSpPr>
        <p:spPr>
          <a:xfrm>
            <a:off x="11338560" y="6510528"/>
            <a:ext cx="365760" cy="274320"/>
          </a:xfrm>
          <a:prstGeom prst="rect">
            <a:avLst/>
          </a:prstGeom>
          <a:noFill/>
          <a:ln/>
        </p:spPr>
        <p:txBody>
          <a:bodyPr wrap="square"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9C7A3C"/>
                </a:solidFill>
                <a:latin typeface="Calibri" pitchFamily="34" charset="0"/>
                <a:ea typeface="Calibri" pitchFamily="34" charset="-122"/>
                <a:cs typeface="Calibri" pitchFamily="34" charset="-120"/>
              </a:rPr>
              <a:t>TRANSITION</a:t>
            </a:r>
            <a:endParaRPr lang="en-US" sz="1300" dirty="0"/>
          </a:p>
        </p:txBody>
      </p:sp>
      <p:sp>
        <p:nvSpPr>
          <p:cNvPr id="3" name="Text 1"/>
          <p:cNvSpPr/>
          <p:nvPr/>
        </p:nvSpPr>
        <p:spPr>
          <a:xfrm>
            <a:off x="548640" y="713232"/>
            <a:ext cx="10515600" cy="822960"/>
          </a:xfrm>
          <a:prstGeom prst="rect">
            <a:avLst/>
          </a:prstGeom>
          <a:noFill/>
          <a:ln/>
        </p:spPr>
        <p:txBody>
          <a:bodyPr wrap="square" rtlCol="0" anchor="ctr"/>
          <a:lstStyle/>
          <a:p>
            <a:pPr indent="0" marL="0">
              <a:buNone/>
            </a:pPr>
            <a:r>
              <a:rPr lang="en-US" sz="3000" b="1" dirty="0">
                <a:solidFill>
                  <a:srgbClr val="1E1E1E"/>
                </a:solidFill>
                <a:latin typeface="Cambria" pitchFamily="34" charset="0"/>
                <a:ea typeface="Cambria" pitchFamily="34" charset="-122"/>
                <a:cs typeface="Cambria" pitchFamily="34" charset="-120"/>
              </a:rPr>
              <a:t>La transition, pas la rupture</a:t>
            </a:r>
            <a:endParaRPr lang="en-US" sz="3000" dirty="0"/>
          </a:p>
        </p:txBody>
      </p:sp>
      <p:sp>
        <p:nvSpPr>
          <p:cNvPr id="4" name="Text 2"/>
          <p:cNvSpPr/>
          <p:nvPr/>
        </p:nvSpPr>
        <p:spPr>
          <a:xfrm>
            <a:off x="548640" y="1600200"/>
            <a:ext cx="10881360" cy="914400"/>
          </a:xfrm>
          <a:prstGeom prst="rect">
            <a:avLst/>
          </a:prstGeom>
          <a:noFill/>
          <a:ln/>
        </p:spPr>
        <p:txBody>
          <a:bodyPr wrap="square" rtlCol="0" anchor="ctr"/>
          <a:lstStyle/>
          <a:p>
            <a:pPr indent="0" marL="0">
              <a:lnSpc>
                <a:spcPct val="130000"/>
              </a:lnSpc>
              <a:buNone/>
            </a:pPr>
            <a:r>
              <a:rPr lang="en-US" sz="1400" dirty="0">
                <a:solidFill>
                  <a:srgbClr val="1E1E1E"/>
                </a:solidFill>
                <a:latin typeface="Calibri" pitchFamily="34" charset="0"/>
                <a:ea typeface="Calibri" pitchFamily="34" charset="-122"/>
                <a:cs typeface="Calibri" pitchFamily="34" charset="-120"/>
              </a:rPr>
              <a:t>Mark 109 vit aujourd'hui d'un modèle de volume. Le repositionnement introduit un modèle de marge et de perception. Présentés comme un interrupteur qu'on coupe du jour au lendemain, les deux modèles s'opposent. Séparés en deux couches, ils se complètent.</a:t>
            </a:r>
            <a:endParaRPr lang="en-US" sz="1400" dirty="0"/>
          </a:p>
        </p:txBody>
      </p:sp>
      <p:sp>
        <p:nvSpPr>
          <p:cNvPr id="5" name="Shape 3"/>
          <p:cNvSpPr/>
          <p:nvPr/>
        </p:nvSpPr>
        <p:spPr>
          <a:xfrm>
            <a:off x="548640" y="2788920"/>
            <a:ext cx="5349240" cy="3200400"/>
          </a:xfrm>
          <a:prstGeom prst="roundRect">
            <a:avLst>
              <a:gd name="adj" fmla="val 2286"/>
            </a:avLst>
          </a:prstGeom>
          <a:solidFill>
            <a:srgbClr val="F4F4F4"/>
          </a:solidFill>
          <a:ln w="9525">
            <a:solidFill>
              <a:srgbClr val="E0E0E0"/>
            </a:solidFill>
            <a:prstDash val="solid"/>
          </a:ln>
        </p:spPr>
      </p:sp>
      <p:sp>
        <p:nvSpPr>
          <p:cNvPr id="6" name="Text 4"/>
          <p:cNvSpPr/>
          <p:nvPr/>
        </p:nvSpPr>
        <p:spPr>
          <a:xfrm>
            <a:off x="868680" y="3108960"/>
            <a:ext cx="4709160" cy="320040"/>
          </a:xfrm>
          <a:prstGeom prst="rect">
            <a:avLst/>
          </a:prstGeom>
          <a:noFill/>
          <a:ln/>
        </p:spPr>
        <p:txBody>
          <a:bodyPr wrap="square" rtlCol="0" anchor="ctr"/>
          <a:lstStyle/>
          <a:p>
            <a:pPr indent="0" marL="0">
              <a:buNone/>
            </a:pPr>
            <a:r>
              <a:rPr lang="en-US" sz="1200" b="1" spc="150" kern="0" dirty="0">
                <a:solidFill>
                  <a:srgbClr val="9C7A3C"/>
                </a:solidFill>
                <a:latin typeface="Calibri" pitchFamily="34" charset="0"/>
                <a:ea typeface="Calibri" pitchFamily="34" charset="-122"/>
                <a:cs typeface="Calibri" pitchFamily="34" charset="-120"/>
              </a:rPr>
              <a:t>COUCHE VOLUME</a:t>
            </a:r>
            <a:endParaRPr lang="en-US" sz="1200" dirty="0"/>
          </a:p>
        </p:txBody>
      </p:sp>
      <p:sp>
        <p:nvSpPr>
          <p:cNvPr id="7" name="Text 5"/>
          <p:cNvSpPr/>
          <p:nvPr/>
        </p:nvSpPr>
        <p:spPr>
          <a:xfrm>
            <a:off x="868680" y="3447288"/>
            <a:ext cx="4709160" cy="502920"/>
          </a:xfrm>
          <a:prstGeom prst="rect">
            <a:avLst/>
          </a:prstGeom>
          <a:noFill/>
          <a:ln/>
        </p:spPr>
        <p:txBody>
          <a:bodyPr wrap="square" rtlCol="0" anchor="ctr"/>
          <a:lstStyle/>
          <a:p>
            <a:pPr indent="0" marL="0">
              <a:buNone/>
            </a:pPr>
            <a:r>
              <a:rPr lang="en-US" sz="2100" b="1" dirty="0">
                <a:solidFill>
                  <a:srgbClr val="1E1E1E"/>
                </a:solidFill>
                <a:latin typeface="Cambria" pitchFamily="34" charset="0"/>
                <a:ea typeface="Cambria" pitchFamily="34" charset="-122"/>
                <a:cs typeface="Cambria" pitchFamily="34" charset="-120"/>
              </a:rPr>
              <a:t>Palier « Essentiel »</a:t>
            </a:r>
            <a:endParaRPr lang="en-US" sz="2100" dirty="0"/>
          </a:p>
        </p:txBody>
      </p:sp>
      <p:sp>
        <p:nvSpPr>
          <p:cNvPr id="8" name="Text 6"/>
          <p:cNvSpPr/>
          <p:nvPr/>
        </p:nvSpPr>
        <p:spPr>
          <a:xfrm>
            <a:off x="868680" y="4069080"/>
            <a:ext cx="4709160" cy="1645920"/>
          </a:xfrm>
          <a:prstGeom prst="rect">
            <a:avLst/>
          </a:prstGeom>
          <a:noFill/>
          <a:ln/>
        </p:spPr>
        <p:txBody>
          <a:bodyPr wrap="square" rtlCol="0" anchor="ctr"/>
          <a:lstStyle/>
          <a:p>
            <a:pPr indent="0" marL="0">
              <a:lnSpc>
                <a:spcPct val="130000"/>
              </a:lnSpc>
              <a:buNone/>
            </a:pPr>
            <a:r>
              <a:rPr lang="en-US" sz="1300" dirty="0">
                <a:solidFill>
                  <a:srgbClr val="6B6B6B"/>
                </a:solidFill>
                <a:latin typeface="Calibri" pitchFamily="34" charset="0"/>
                <a:ea typeface="Calibri" pitchFamily="34" charset="-122"/>
                <a:cs typeface="Calibri" pitchFamily="34" charset="-120"/>
              </a:rPr>
              <a:t>Retouches courantes, altérations. Porte ouverte, sans rendez-vous, revenu constant — exactement comme aujourd'hui.</a:t>
            </a:r>
            <a:endParaRPr lang="en-US" sz="1300" dirty="0"/>
          </a:p>
        </p:txBody>
      </p:sp>
      <p:sp>
        <p:nvSpPr>
          <p:cNvPr id="9" name="Shape 7"/>
          <p:cNvSpPr/>
          <p:nvPr/>
        </p:nvSpPr>
        <p:spPr>
          <a:xfrm>
            <a:off x="6263640" y="2788920"/>
            <a:ext cx="5349240" cy="3200400"/>
          </a:xfrm>
          <a:prstGeom prst="roundRect">
            <a:avLst>
              <a:gd name="adj" fmla="val 2286"/>
            </a:avLst>
          </a:prstGeom>
          <a:solidFill>
            <a:srgbClr val="1E1E1E"/>
          </a:solidFill>
          <a:ln w="9525">
            <a:solidFill>
              <a:srgbClr val="3A3A3A"/>
            </a:solidFill>
            <a:prstDash val="solid"/>
          </a:ln>
        </p:spPr>
      </p:sp>
      <p:sp>
        <p:nvSpPr>
          <p:cNvPr id="10" name="Text 8"/>
          <p:cNvSpPr/>
          <p:nvPr/>
        </p:nvSpPr>
        <p:spPr>
          <a:xfrm>
            <a:off x="6583680" y="3108960"/>
            <a:ext cx="4709160" cy="320040"/>
          </a:xfrm>
          <a:prstGeom prst="rect">
            <a:avLst/>
          </a:prstGeom>
          <a:noFill/>
          <a:ln/>
        </p:spPr>
        <p:txBody>
          <a:bodyPr wrap="square" rtlCol="0" anchor="ctr"/>
          <a:lstStyle/>
          <a:p>
            <a:pPr indent="0" marL="0">
              <a:buNone/>
            </a:pPr>
            <a:r>
              <a:rPr lang="en-US" sz="1200" b="1" spc="150" kern="0" dirty="0">
                <a:solidFill>
                  <a:srgbClr val="C9A96A"/>
                </a:solidFill>
                <a:latin typeface="Calibri" pitchFamily="34" charset="0"/>
                <a:ea typeface="Calibri" pitchFamily="34" charset="-122"/>
                <a:cs typeface="Calibri" pitchFamily="34" charset="-120"/>
              </a:rPr>
              <a:t>COUCHE EXCLUSIVE</a:t>
            </a:r>
            <a:endParaRPr lang="en-US" sz="1200" dirty="0"/>
          </a:p>
        </p:txBody>
      </p:sp>
      <p:sp>
        <p:nvSpPr>
          <p:cNvPr id="11" name="Text 9"/>
          <p:cNvSpPr/>
          <p:nvPr/>
        </p:nvSpPr>
        <p:spPr>
          <a:xfrm>
            <a:off x="6583680" y="3447288"/>
            <a:ext cx="4709160" cy="502920"/>
          </a:xfrm>
          <a:prstGeom prst="rect">
            <a:avLst/>
          </a:prstGeom>
          <a:noFill/>
          <a:ln/>
        </p:spPr>
        <p:txBody>
          <a:bodyPr wrap="square"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 Sur-mesure intégral »</a:t>
            </a:r>
            <a:endParaRPr lang="en-US" sz="2100" dirty="0"/>
          </a:p>
        </p:txBody>
      </p:sp>
      <p:sp>
        <p:nvSpPr>
          <p:cNvPr id="12" name="Text 10"/>
          <p:cNvSpPr/>
          <p:nvPr/>
        </p:nvSpPr>
        <p:spPr>
          <a:xfrm>
            <a:off x="6583680" y="4069080"/>
            <a:ext cx="4709160" cy="1645920"/>
          </a:xfrm>
          <a:prstGeom prst="rect">
            <a:avLst/>
          </a:prstGeom>
          <a:noFill/>
          <a:ln/>
        </p:spPr>
        <p:txBody>
          <a:bodyPr wrap="square" rtlCol="0" anchor="ctr"/>
          <a:lstStyle/>
          <a:p>
            <a:pPr indent="0" marL="0">
              <a:lnSpc>
                <a:spcPct val="130000"/>
              </a:lnSpc>
              <a:buNone/>
            </a:pPr>
            <a:r>
              <a:rPr lang="en-US" sz="1300" dirty="0">
                <a:solidFill>
                  <a:srgbClr val="D0D0D0"/>
                </a:solidFill>
                <a:latin typeface="Calibri" pitchFamily="34" charset="0"/>
                <a:ea typeface="Calibri" pitchFamily="34" charset="-122"/>
                <a:cs typeface="Calibri" pitchFamily="34" charset="-120"/>
              </a:rPr>
              <a:t>Conseil de style, création complète. Sur rendez-vous, deux jours par semaine — le reste du temps est déjà occupé par les clients existants.</a:t>
            </a:r>
            <a:endParaRPr lang="en-US" sz="1300" dirty="0"/>
          </a:p>
        </p:txBody>
      </p:sp>
      <p:sp>
        <p:nvSpPr>
          <p:cNvPr id="13" name="Text 11"/>
          <p:cNvSpPr/>
          <p:nvPr/>
        </p:nvSpPr>
        <p:spPr>
          <a:xfrm>
            <a:off x="457200" y="6510528"/>
            <a:ext cx="5486400" cy="274320"/>
          </a:xfrm>
          <a:prstGeom prst="rect">
            <a:avLst/>
          </a:prstGeom>
          <a:noFill/>
          <a:ln/>
        </p:spPr>
        <p:txBody>
          <a:bodyPr wrap="square" rtlCol="0" anchor="ctr"/>
          <a:lstStyle/>
          <a:p>
            <a:pPr algn="l" indent="0" marL="0">
              <a:buNone/>
            </a:pPr>
            <a:r>
              <a:rPr lang="en-US" sz="900" dirty="0">
                <a:solidFill>
                  <a:srgbClr val="A9A9A9"/>
                </a:solidFill>
                <a:latin typeface="Calibri" pitchFamily="34" charset="0"/>
                <a:ea typeface="Calibri" pitchFamily="34" charset="-122"/>
                <a:cs typeface="Calibri" pitchFamily="34" charset="-120"/>
              </a:rPr>
              <a:t>Boutique Tailleur Mark 109</a:t>
            </a:r>
            <a:endParaRPr lang="en-US" sz="900" dirty="0"/>
          </a:p>
        </p:txBody>
      </p:sp>
      <p:sp>
        <p:nvSpPr>
          <p:cNvPr id="14" name="Text 12"/>
          <p:cNvSpPr/>
          <p:nvPr/>
        </p:nvSpPr>
        <p:spPr>
          <a:xfrm>
            <a:off x="11338560" y="6510528"/>
            <a:ext cx="365760" cy="274320"/>
          </a:xfrm>
          <a:prstGeom prst="rect">
            <a:avLst/>
          </a:prstGeom>
          <a:noFill/>
          <a:ln/>
        </p:spPr>
        <p:txBody>
          <a:bodyPr wrap="square" rtlCol="0" anchor="ctr"/>
          <a:lstStyle/>
          <a:p>
            <a:pPr algn="r" indent="0" marL="0">
              <a:buNone/>
            </a:pPr>
            <a:r>
              <a:rPr lang="en-US" sz="900" dirty="0">
                <a:solidFill>
                  <a:srgbClr val="A9A9A9"/>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1E1E"/>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C9A96A"/>
                </a:solidFill>
                <a:latin typeface="Calibri" pitchFamily="34" charset="0"/>
                <a:ea typeface="Calibri" pitchFamily="34" charset="-122"/>
                <a:cs typeface="Calibri" pitchFamily="34" charset="-120"/>
              </a:rPr>
              <a:t>SÉQUENÇAGE</a:t>
            </a:r>
            <a:endParaRPr lang="en-US" sz="1300" dirty="0"/>
          </a:p>
        </p:txBody>
      </p:sp>
      <p:sp>
        <p:nvSpPr>
          <p:cNvPr id="3" name="Text 1"/>
          <p:cNvSpPr/>
          <p:nvPr/>
        </p:nvSpPr>
        <p:spPr>
          <a:xfrm>
            <a:off x="548640" y="713232"/>
            <a:ext cx="10515600" cy="82296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Trois phases pour construire la transition</a:t>
            </a:r>
            <a:endParaRPr lang="en-US" sz="3000" dirty="0"/>
          </a:p>
        </p:txBody>
      </p:sp>
      <p:sp>
        <p:nvSpPr>
          <p:cNvPr id="4" name="Shape 2"/>
          <p:cNvSpPr/>
          <p:nvPr/>
        </p:nvSpPr>
        <p:spPr>
          <a:xfrm>
            <a:off x="548640" y="1783080"/>
            <a:ext cx="3520440" cy="4343400"/>
          </a:xfrm>
          <a:prstGeom prst="roundRect">
            <a:avLst>
              <a:gd name="adj" fmla="val 2078"/>
            </a:avLst>
          </a:prstGeom>
          <a:solidFill>
            <a:srgbClr val="2B2B2B"/>
          </a:solidFill>
          <a:ln w="12700">
            <a:solidFill>
              <a:srgbClr val="9C7A3C"/>
            </a:solidFill>
            <a:prstDash val="solid"/>
          </a:ln>
        </p:spPr>
      </p:sp>
      <p:sp>
        <p:nvSpPr>
          <p:cNvPr id="5" name="Text 3"/>
          <p:cNvSpPr/>
          <p:nvPr/>
        </p:nvSpPr>
        <p:spPr>
          <a:xfrm>
            <a:off x="804672" y="2011680"/>
            <a:ext cx="3008376" cy="274320"/>
          </a:xfrm>
          <a:prstGeom prst="rect">
            <a:avLst/>
          </a:prstGeom>
          <a:noFill/>
          <a:ln/>
        </p:spPr>
        <p:txBody>
          <a:bodyPr wrap="square" rtlCol="0" anchor="ctr"/>
          <a:lstStyle/>
          <a:p>
            <a:pPr indent="0" marL="0">
              <a:buNone/>
            </a:pPr>
            <a:r>
              <a:rPr lang="en-US" sz="1050" b="1" spc="150" kern="0" dirty="0">
                <a:solidFill>
                  <a:srgbClr val="C9A96A"/>
                </a:solidFill>
                <a:latin typeface="Calibri" pitchFamily="34" charset="0"/>
                <a:ea typeface="Calibri" pitchFamily="34" charset="-122"/>
                <a:cs typeface="Calibri" pitchFamily="34" charset="-120"/>
              </a:rPr>
              <a:t>MOIS 1</a:t>
            </a:r>
            <a:endParaRPr lang="en-US" sz="1050" dirty="0"/>
          </a:p>
        </p:txBody>
      </p:sp>
      <p:sp>
        <p:nvSpPr>
          <p:cNvPr id="6" name="Text 4"/>
          <p:cNvSpPr/>
          <p:nvPr/>
        </p:nvSpPr>
        <p:spPr>
          <a:xfrm>
            <a:off x="804672" y="2286000"/>
            <a:ext cx="3008376" cy="50292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1. Fondation</a:t>
            </a:r>
            <a:endParaRPr lang="en-US" sz="1700" dirty="0"/>
          </a:p>
        </p:txBody>
      </p:sp>
      <p:sp>
        <p:nvSpPr>
          <p:cNvPr id="7" name="Text 5"/>
          <p:cNvSpPr/>
          <p:nvPr/>
        </p:nvSpPr>
        <p:spPr>
          <a:xfrm>
            <a:off x="804672" y="2926080"/>
            <a:ext cx="3008376" cy="228600"/>
          </a:xfrm>
          <a:prstGeom prst="rect">
            <a:avLst/>
          </a:prstGeom>
          <a:noFill/>
          <a:ln/>
        </p:spPr>
        <p:txBody>
          <a:bodyPr wrap="square" rtlCol="0" anchor="ctr"/>
          <a:lstStyle/>
          <a:p>
            <a:pPr indent="0" marL="0">
              <a:buNone/>
            </a:pPr>
            <a:r>
              <a:rPr lang="en-US" sz="900" b="1" spc="100" kern="0" dirty="0">
                <a:solidFill>
                  <a:srgbClr val="C9A96A"/>
                </a:solidFill>
                <a:latin typeface="Calibri" pitchFamily="34" charset="0"/>
                <a:ea typeface="Calibri" pitchFamily="34" charset="-122"/>
                <a:cs typeface="Calibri" pitchFamily="34" charset="-120"/>
              </a:rPr>
              <a:t>CE QUI CHANGE</a:t>
            </a:r>
            <a:endParaRPr lang="en-US" sz="900" dirty="0"/>
          </a:p>
        </p:txBody>
      </p:sp>
      <p:sp>
        <p:nvSpPr>
          <p:cNvPr id="8" name="Text 6"/>
          <p:cNvSpPr/>
          <p:nvPr/>
        </p:nvSpPr>
        <p:spPr>
          <a:xfrm>
            <a:off x="804672" y="3154680"/>
            <a:ext cx="3008376" cy="960120"/>
          </a:xfrm>
          <a:prstGeom prst="rect">
            <a:avLst/>
          </a:prstGeom>
          <a:noFill/>
          <a:ln/>
        </p:spPr>
        <p:txBody>
          <a:bodyPr wrap="square" rtlCol="0" anchor="ctr"/>
          <a:lstStyle/>
          <a:p>
            <a:pPr indent="0" marL="0">
              <a:lnSpc>
                <a:spcPct val="120000"/>
              </a:lnSpc>
              <a:buNone/>
            </a:pPr>
            <a:r>
              <a:rPr lang="en-US" sz="1050" dirty="0">
                <a:solidFill>
                  <a:srgbClr val="D8D8D8"/>
                </a:solidFill>
                <a:latin typeface="Calibri" pitchFamily="34" charset="0"/>
                <a:ea typeface="Calibri" pitchFamily="34" charset="-122"/>
                <a:cs typeface="Calibri" pitchFamily="34" charset="-120"/>
              </a:rPr>
              <a:t>Lancement discret du site et de l'identité « Atelier Privé » ; annonce ciblée aux meilleurs clients.</a:t>
            </a:r>
            <a:endParaRPr lang="en-US" sz="1050" dirty="0"/>
          </a:p>
        </p:txBody>
      </p:sp>
      <p:sp>
        <p:nvSpPr>
          <p:cNvPr id="9" name="Text 7"/>
          <p:cNvSpPr/>
          <p:nvPr/>
        </p:nvSpPr>
        <p:spPr>
          <a:xfrm>
            <a:off x="804672" y="4160520"/>
            <a:ext cx="3008376" cy="228600"/>
          </a:xfrm>
          <a:prstGeom prst="rect">
            <a:avLst/>
          </a:prstGeom>
          <a:noFill/>
          <a:ln/>
        </p:spPr>
        <p:txBody>
          <a:bodyPr wrap="square" rtlCol="0" anchor="ctr"/>
          <a:lstStyle/>
          <a:p>
            <a:pPr indent="0" marL="0">
              <a:buNone/>
            </a:pPr>
            <a:r>
              <a:rPr lang="en-US" sz="900" b="1" spc="100" kern="0" dirty="0">
                <a:solidFill>
                  <a:srgbClr val="C9A96A"/>
                </a:solidFill>
                <a:latin typeface="Calibri" pitchFamily="34" charset="0"/>
                <a:ea typeface="Calibri" pitchFamily="34" charset="-122"/>
                <a:cs typeface="Calibri" pitchFamily="34" charset="-120"/>
              </a:rPr>
              <a:t>CE QUI NE CHANGE PAS</a:t>
            </a:r>
            <a:endParaRPr lang="en-US" sz="900" dirty="0"/>
          </a:p>
        </p:txBody>
      </p:sp>
      <p:sp>
        <p:nvSpPr>
          <p:cNvPr id="10" name="Text 8"/>
          <p:cNvSpPr/>
          <p:nvPr/>
        </p:nvSpPr>
        <p:spPr>
          <a:xfrm>
            <a:off x="804672" y="4389120"/>
            <a:ext cx="3008376" cy="868680"/>
          </a:xfrm>
          <a:prstGeom prst="rect">
            <a:avLst/>
          </a:prstGeom>
          <a:noFill/>
          <a:ln/>
        </p:spPr>
        <p:txBody>
          <a:bodyPr wrap="square" rtlCol="0" anchor="ctr"/>
          <a:lstStyle/>
          <a:p>
            <a:pPr indent="0" marL="0">
              <a:lnSpc>
                <a:spcPct val="120000"/>
              </a:lnSpc>
              <a:buNone/>
            </a:pPr>
            <a:r>
              <a:rPr lang="en-US" sz="1050" dirty="0">
                <a:solidFill>
                  <a:srgbClr val="D8D8D8"/>
                </a:solidFill>
                <a:latin typeface="Calibri" pitchFamily="34" charset="0"/>
                <a:ea typeface="Calibri" pitchFamily="34" charset="-122"/>
                <a:cs typeface="Calibri" pitchFamily="34" charset="-120"/>
              </a:rPr>
              <a:t>Aucun changement au comptoir — les altérations continuent normalement.</a:t>
            </a:r>
            <a:endParaRPr lang="en-US" sz="1050" dirty="0"/>
          </a:p>
        </p:txBody>
      </p:sp>
      <p:sp>
        <p:nvSpPr>
          <p:cNvPr id="11" name="Text 9"/>
          <p:cNvSpPr/>
          <p:nvPr/>
        </p:nvSpPr>
        <p:spPr>
          <a:xfrm>
            <a:off x="804672" y="5303520"/>
            <a:ext cx="3008376" cy="228600"/>
          </a:xfrm>
          <a:prstGeom prst="rect">
            <a:avLst/>
          </a:prstGeom>
          <a:noFill/>
          <a:ln/>
        </p:spPr>
        <p:txBody>
          <a:bodyPr wrap="square" rtlCol="0" anchor="ctr"/>
          <a:lstStyle/>
          <a:p>
            <a:pPr indent="0" marL="0">
              <a:buNone/>
            </a:pPr>
            <a:r>
              <a:rPr lang="en-US" sz="900" b="1" spc="100" kern="0" dirty="0">
                <a:solidFill>
                  <a:srgbClr val="C9A96A"/>
                </a:solidFill>
                <a:latin typeface="Calibri" pitchFamily="34" charset="0"/>
                <a:ea typeface="Calibri" pitchFamily="34" charset="-122"/>
                <a:cs typeface="Calibri" pitchFamily="34" charset="-120"/>
              </a:rPr>
              <a:t>SIGNAL DE PASSAGE</a:t>
            </a:r>
            <a:endParaRPr lang="en-US" sz="900" dirty="0"/>
          </a:p>
        </p:txBody>
      </p:sp>
      <p:sp>
        <p:nvSpPr>
          <p:cNvPr id="12" name="Text 10"/>
          <p:cNvSpPr/>
          <p:nvPr/>
        </p:nvSpPr>
        <p:spPr>
          <a:xfrm>
            <a:off x="804672" y="5532120"/>
            <a:ext cx="3008376" cy="548640"/>
          </a:xfrm>
          <a:prstGeom prst="rect">
            <a:avLst/>
          </a:prstGeom>
          <a:noFill/>
          <a:ln/>
        </p:spPr>
        <p:txBody>
          <a:bodyPr wrap="square" rtlCol="0" anchor="ctr"/>
          <a:lstStyle/>
          <a:p>
            <a:pPr indent="0" marL="0">
              <a:lnSpc>
                <a:spcPct val="120000"/>
              </a:lnSpc>
              <a:buNone/>
            </a:pPr>
            <a:r>
              <a:rPr lang="en-US" sz="1050" i="1" dirty="0">
                <a:solidFill>
                  <a:srgbClr val="B8B8B8"/>
                </a:solidFill>
                <a:latin typeface="Calibri" pitchFamily="34" charset="0"/>
                <a:ea typeface="Calibri" pitchFamily="34" charset="-122"/>
                <a:cs typeface="Calibri" pitchFamily="34" charset="-120"/>
              </a:rPr>
              <a:t>Site en ligne ; premiers rendez-vous test.</a:t>
            </a:r>
            <a:endParaRPr lang="en-US" sz="1050" dirty="0"/>
          </a:p>
        </p:txBody>
      </p:sp>
      <p:sp>
        <p:nvSpPr>
          <p:cNvPr id="13" name="Shape 11"/>
          <p:cNvSpPr/>
          <p:nvPr/>
        </p:nvSpPr>
        <p:spPr>
          <a:xfrm>
            <a:off x="4343400" y="1783080"/>
            <a:ext cx="3520440" cy="4343400"/>
          </a:xfrm>
          <a:prstGeom prst="roundRect">
            <a:avLst>
              <a:gd name="adj" fmla="val 2078"/>
            </a:avLst>
          </a:prstGeom>
          <a:solidFill>
            <a:srgbClr val="2B2B2B"/>
          </a:solidFill>
          <a:ln w="12700">
            <a:solidFill>
              <a:srgbClr val="9C7A3C"/>
            </a:solidFill>
            <a:prstDash val="solid"/>
          </a:ln>
        </p:spPr>
      </p:sp>
      <p:sp>
        <p:nvSpPr>
          <p:cNvPr id="14" name="Text 12"/>
          <p:cNvSpPr/>
          <p:nvPr/>
        </p:nvSpPr>
        <p:spPr>
          <a:xfrm>
            <a:off x="4599432" y="2011680"/>
            <a:ext cx="3008376" cy="274320"/>
          </a:xfrm>
          <a:prstGeom prst="rect">
            <a:avLst/>
          </a:prstGeom>
          <a:noFill/>
          <a:ln/>
        </p:spPr>
        <p:txBody>
          <a:bodyPr wrap="square" rtlCol="0" anchor="ctr"/>
          <a:lstStyle/>
          <a:p>
            <a:pPr indent="0" marL="0">
              <a:buNone/>
            </a:pPr>
            <a:r>
              <a:rPr lang="en-US" sz="1050" b="1" spc="150" kern="0" dirty="0">
                <a:solidFill>
                  <a:srgbClr val="C9A96A"/>
                </a:solidFill>
                <a:latin typeface="Calibri" pitchFamily="34" charset="0"/>
                <a:ea typeface="Calibri" pitchFamily="34" charset="-122"/>
                <a:cs typeface="Calibri" pitchFamily="34" charset="-120"/>
              </a:rPr>
              <a:t>MOIS 2-4</a:t>
            </a:r>
            <a:endParaRPr lang="en-US" sz="1050" dirty="0"/>
          </a:p>
        </p:txBody>
      </p:sp>
      <p:sp>
        <p:nvSpPr>
          <p:cNvPr id="15" name="Text 13"/>
          <p:cNvSpPr/>
          <p:nvPr/>
        </p:nvSpPr>
        <p:spPr>
          <a:xfrm>
            <a:off x="4599432" y="2286000"/>
            <a:ext cx="3008376" cy="50292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2. Lancement mesuré</a:t>
            </a:r>
            <a:endParaRPr lang="en-US" sz="1700" dirty="0"/>
          </a:p>
        </p:txBody>
      </p:sp>
      <p:sp>
        <p:nvSpPr>
          <p:cNvPr id="16" name="Text 14"/>
          <p:cNvSpPr/>
          <p:nvPr/>
        </p:nvSpPr>
        <p:spPr>
          <a:xfrm>
            <a:off x="4599432" y="2926080"/>
            <a:ext cx="3008376" cy="228600"/>
          </a:xfrm>
          <a:prstGeom prst="rect">
            <a:avLst/>
          </a:prstGeom>
          <a:noFill/>
          <a:ln/>
        </p:spPr>
        <p:txBody>
          <a:bodyPr wrap="square" rtlCol="0" anchor="ctr"/>
          <a:lstStyle/>
          <a:p>
            <a:pPr indent="0" marL="0">
              <a:buNone/>
            </a:pPr>
            <a:r>
              <a:rPr lang="en-US" sz="900" b="1" spc="100" kern="0" dirty="0">
                <a:solidFill>
                  <a:srgbClr val="C9A96A"/>
                </a:solidFill>
                <a:latin typeface="Calibri" pitchFamily="34" charset="0"/>
                <a:ea typeface="Calibri" pitchFamily="34" charset="-122"/>
                <a:cs typeface="Calibri" pitchFamily="34" charset="-120"/>
              </a:rPr>
              <a:t>CE QUI CHANGE</a:t>
            </a:r>
            <a:endParaRPr lang="en-US" sz="900" dirty="0"/>
          </a:p>
        </p:txBody>
      </p:sp>
      <p:sp>
        <p:nvSpPr>
          <p:cNvPr id="17" name="Text 15"/>
          <p:cNvSpPr/>
          <p:nvPr/>
        </p:nvSpPr>
        <p:spPr>
          <a:xfrm>
            <a:off x="4599432" y="3154680"/>
            <a:ext cx="3008376" cy="960120"/>
          </a:xfrm>
          <a:prstGeom prst="rect">
            <a:avLst/>
          </a:prstGeom>
          <a:noFill/>
          <a:ln/>
        </p:spPr>
        <p:txBody>
          <a:bodyPr wrap="square" rtlCol="0" anchor="ctr"/>
          <a:lstStyle/>
          <a:p>
            <a:pPr indent="0" marL="0">
              <a:lnSpc>
                <a:spcPct val="120000"/>
              </a:lnSpc>
              <a:buNone/>
            </a:pPr>
            <a:r>
              <a:rPr lang="en-US" sz="1050" dirty="0">
                <a:solidFill>
                  <a:srgbClr val="D8D8D8"/>
                </a:solidFill>
                <a:latin typeface="Calibri" pitchFamily="34" charset="0"/>
                <a:ea typeface="Calibri" pitchFamily="34" charset="-122"/>
                <a:cs typeface="Calibri" pitchFamily="34" charset="-120"/>
              </a:rPr>
              <a:t>Ouverture réelle des deux jours de rendez-vous privés ; premières séances de style complet.</a:t>
            </a:r>
            <a:endParaRPr lang="en-US" sz="1050" dirty="0"/>
          </a:p>
        </p:txBody>
      </p:sp>
      <p:sp>
        <p:nvSpPr>
          <p:cNvPr id="18" name="Text 16"/>
          <p:cNvSpPr/>
          <p:nvPr/>
        </p:nvSpPr>
        <p:spPr>
          <a:xfrm>
            <a:off x="4599432" y="4160520"/>
            <a:ext cx="3008376" cy="228600"/>
          </a:xfrm>
          <a:prstGeom prst="rect">
            <a:avLst/>
          </a:prstGeom>
          <a:noFill/>
          <a:ln/>
        </p:spPr>
        <p:txBody>
          <a:bodyPr wrap="square" rtlCol="0" anchor="ctr"/>
          <a:lstStyle/>
          <a:p>
            <a:pPr indent="0" marL="0">
              <a:buNone/>
            </a:pPr>
            <a:r>
              <a:rPr lang="en-US" sz="900" b="1" spc="100" kern="0" dirty="0">
                <a:solidFill>
                  <a:srgbClr val="C9A96A"/>
                </a:solidFill>
                <a:latin typeface="Calibri" pitchFamily="34" charset="0"/>
                <a:ea typeface="Calibri" pitchFamily="34" charset="-122"/>
                <a:cs typeface="Calibri" pitchFamily="34" charset="-120"/>
              </a:rPr>
              <a:t>CE QUI NE CHANGE PAS</a:t>
            </a:r>
            <a:endParaRPr lang="en-US" sz="900" dirty="0"/>
          </a:p>
        </p:txBody>
      </p:sp>
      <p:sp>
        <p:nvSpPr>
          <p:cNvPr id="19" name="Text 17"/>
          <p:cNvSpPr/>
          <p:nvPr/>
        </p:nvSpPr>
        <p:spPr>
          <a:xfrm>
            <a:off x="4599432" y="4389120"/>
            <a:ext cx="3008376" cy="868680"/>
          </a:xfrm>
          <a:prstGeom prst="rect">
            <a:avLst/>
          </a:prstGeom>
          <a:noFill/>
          <a:ln/>
        </p:spPr>
        <p:txBody>
          <a:bodyPr wrap="square" rtlCol="0" anchor="ctr"/>
          <a:lstStyle/>
          <a:p>
            <a:pPr indent="0" marL="0">
              <a:lnSpc>
                <a:spcPct val="120000"/>
              </a:lnSpc>
              <a:buNone/>
            </a:pPr>
            <a:r>
              <a:rPr lang="en-US" sz="1050" dirty="0">
                <a:solidFill>
                  <a:srgbClr val="D8D8D8"/>
                </a:solidFill>
                <a:latin typeface="Calibri" pitchFamily="34" charset="0"/>
                <a:ea typeface="Calibri" pitchFamily="34" charset="-122"/>
                <a:cs typeface="Calibri" pitchFamily="34" charset="-120"/>
              </a:rPr>
              <a:t>Le reste de la semaine reste dédié aux clients d'altération, comme avant.</a:t>
            </a:r>
            <a:endParaRPr lang="en-US" sz="1050" dirty="0"/>
          </a:p>
        </p:txBody>
      </p:sp>
      <p:sp>
        <p:nvSpPr>
          <p:cNvPr id="20" name="Text 18"/>
          <p:cNvSpPr/>
          <p:nvPr/>
        </p:nvSpPr>
        <p:spPr>
          <a:xfrm>
            <a:off x="4599432" y="5303520"/>
            <a:ext cx="3008376" cy="228600"/>
          </a:xfrm>
          <a:prstGeom prst="rect">
            <a:avLst/>
          </a:prstGeom>
          <a:noFill/>
          <a:ln/>
        </p:spPr>
        <p:txBody>
          <a:bodyPr wrap="square" rtlCol="0" anchor="ctr"/>
          <a:lstStyle/>
          <a:p>
            <a:pPr indent="0" marL="0">
              <a:buNone/>
            </a:pPr>
            <a:r>
              <a:rPr lang="en-US" sz="900" b="1" spc="100" kern="0" dirty="0">
                <a:solidFill>
                  <a:srgbClr val="C9A96A"/>
                </a:solidFill>
                <a:latin typeface="Calibri" pitchFamily="34" charset="0"/>
                <a:ea typeface="Calibri" pitchFamily="34" charset="-122"/>
                <a:cs typeface="Calibri" pitchFamily="34" charset="-120"/>
              </a:rPr>
              <a:t>SIGNAL DE PASSAGE</a:t>
            </a:r>
            <a:endParaRPr lang="en-US" sz="900" dirty="0"/>
          </a:p>
        </p:txBody>
      </p:sp>
      <p:sp>
        <p:nvSpPr>
          <p:cNvPr id="21" name="Text 19"/>
          <p:cNvSpPr/>
          <p:nvPr/>
        </p:nvSpPr>
        <p:spPr>
          <a:xfrm>
            <a:off x="4599432" y="5532120"/>
            <a:ext cx="3008376" cy="548640"/>
          </a:xfrm>
          <a:prstGeom prst="rect">
            <a:avLst/>
          </a:prstGeom>
          <a:noFill/>
          <a:ln/>
        </p:spPr>
        <p:txBody>
          <a:bodyPr wrap="square" rtlCol="0" anchor="ctr"/>
          <a:lstStyle/>
          <a:p>
            <a:pPr indent="0" marL="0">
              <a:lnSpc>
                <a:spcPct val="120000"/>
              </a:lnSpc>
              <a:buNone/>
            </a:pPr>
            <a:r>
              <a:rPr lang="en-US" sz="1050" i="1" dirty="0">
                <a:solidFill>
                  <a:srgbClr val="B8B8B8"/>
                </a:solidFill>
                <a:latin typeface="Calibri" pitchFamily="34" charset="0"/>
                <a:ea typeface="Calibri" pitchFamily="34" charset="-122"/>
                <a:cs typeface="Calibri" pitchFamily="34" charset="-120"/>
              </a:rPr>
              <a:t>Occupation des rendez-vous ≥ 50 %.</a:t>
            </a:r>
            <a:endParaRPr lang="en-US" sz="1050" dirty="0"/>
          </a:p>
        </p:txBody>
      </p:sp>
      <p:sp>
        <p:nvSpPr>
          <p:cNvPr id="22" name="Shape 20"/>
          <p:cNvSpPr/>
          <p:nvPr/>
        </p:nvSpPr>
        <p:spPr>
          <a:xfrm>
            <a:off x="8138160" y="1783080"/>
            <a:ext cx="3520440" cy="4343400"/>
          </a:xfrm>
          <a:prstGeom prst="roundRect">
            <a:avLst>
              <a:gd name="adj" fmla="val 2078"/>
            </a:avLst>
          </a:prstGeom>
          <a:solidFill>
            <a:srgbClr val="2B2B2B"/>
          </a:solidFill>
          <a:ln w="12700">
            <a:solidFill>
              <a:srgbClr val="9C7A3C"/>
            </a:solidFill>
            <a:prstDash val="solid"/>
          </a:ln>
        </p:spPr>
      </p:sp>
      <p:sp>
        <p:nvSpPr>
          <p:cNvPr id="23" name="Text 21"/>
          <p:cNvSpPr/>
          <p:nvPr/>
        </p:nvSpPr>
        <p:spPr>
          <a:xfrm>
            <a:off x="8394192" y="2011680"/>
            <a:ext cx="3008376" cy="274320"/>
          </a:xfrm>
          <a:prstGeom prst="rect">
            <a:avLst/>
          </a:prstGeom>
          <a:noFill/>
          <a:ln/>
        </p:spPr>
        <p:txBody>
          <a:bodyPr wrap="square" rtlCol="0" anchor="ctr"/>
          <a:lstStyle/>
          <a:p>
            <a:pPr indent="0" marL="0">
              <a:buNone/>
            </a:pPr>
            <a:r>
              <a:rPr lang="en-US" sz="1050" b="1" spc="150" kern="0" dirty="0">
                <a:solidFill>
                  <a:srgbClr val="C9A96A"/>
                </a:solidFill>
                <a:latin typeface="Calibri" pitchFamily="34" charset="0"/>
                <a:ea typeface="Calibri" pitchFamily="34" charset="-122"/>
                <a:cs typeface="Calibri" pitchFamily="34" charset="-120"/>
              </a:rPr>
              <a:t>MOIS 5-8 ET +</a:t>
            </a:r>
            <a:endParaRPr lang="en-US" sz="1050" dirty="0"/>
          </a:p>
        </p:txBody>
      </p:sp>
      <p:sp>
        <p:nvSpPr>
          <p:cNvPr id="24" name="Text 22"/>
          <p:cNvSpPr/>
          <p:nvPr/>
        </p:nvSpPr>
        <p:spPr>
          <a:xfrm>
            <a:off x="8394192" y="2286000"/>
            <a:ext cx="3008376" cy="50292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3. Affirmation publique</a:t>
            </a:r>
            <a:endParaRPr lang="en-US" sz="1700" dirty="0"/>
          </a:p>
        </p:txBody>
      </p:sp>
      <p:sp>
        <p:nvSpPr>
          <p:cNvPr id="25" name="Text 23"/>
          <p:cNvSpPr/>
          <p:nvPr/>
        </p:nvSpPr>
        <p:spPr>
          <a:xfrm>
            <a:off x="8394192" y="2926080"/>
            <a:ext cx="3008376" cy="228600"/>
          </a:xfrm>
          <a:prstGeom prst="rect">
            <a:avLst/>
          </a:prstGeom>
          <a:noFill/>
          <a:ln/>
        </p:spPr>
        <p:txBody>
          <a:bodyPr wrap="square" rtlCol="0" anchor="ctr"/>
          <a:lstStyle/>
          <a:p>
            <a:pPr indent="0" marL="0">
              <a:buNone/>
            </a:pPr>
            <a:r>
              <a:rPr lang="en-US" sz="900" b="1" spc="100" kern="0" dirty="0">
                <a:solidFill>
                  <a:srgbClr val="C9A96A"/>
                </a:solidFill>
                <a:latin typeface="Calibri" pitchFamily="34" charset="0"/>
                <a:ea typeface="Calibri" pitchFamily="34" charset="-122"/>
                <a:cs typeface="Calibri" pitchFamily="34" charset="-120"/>
              </a:rPr>
              <a:t>CE QUI CHANGE</a:t>
            </a:r>
            <a:endParaRPr lang="en-US" sz="900" dirty="0"/>
          </a:p>
        </p:txBody>
      </p:sp>
      <p:sp>
        <p:nvSpPr>
          <p:cNvPr id="26" name="Text 24"/>
          <p:cNvSpPr/>
          <p:nvPr/>
        </p:nvSpPr>
        <p:spPr>
          <a:xfrm>
            <a:off x="8394192" y="3154680"/>
            <a:ext cx="3008376" cy="960120"/>
          </a:xfrm>
          <a:prstGeom prst="rect">
            <a:avLst/>
          </a:prstGeom>
          <a:noFill/>
          <a:ln/>
        </p:spPr>
        <p:txBody>
          <a:bodyPr wrap="square" rtlCol="0" anchor="ctr"/>
          <a:lstStyle/>
          <a:p>
            <a:pPr indent="0" marL="0">
              <a:lnSpc>
                <a:spcPct val="120000"/>
              </a:lnSpc>
              <a:buNone/>
            </a:pPr>
            <a:r>
              <a:rPr lang="en-US" sz="1050" dirty="0">
                <a:solidFill>
                  <a:srgbClr val="D8D8D8"/>
                </a:solidFill>
                <a:latin typeface="Calibri" pitchFamily="34" charset="0"/>
                <a:ea typeface="Calibri" pitchFamily="34" charset="-122"/>
                <a:cs typeface="Calibri" pitchFamily="34" charset="-120"/>
              </a:rPr>
              <a:t>L'identité publique bascule vers le positionnement « atelier privé » en priorité.</a:t>
            </a:r>
            <a:endParaRPr lang="en-US" sz="1050" dirty="0"/>
          </a:p>
        </p:txBody>
      </p:sp>
      <p:sp>
        <p:nvSpPr>
          <p:cNvPr id="27" name="Text 25"/>
          <p:cNvSpPr/>
          <p:nvPr/>
        </p:nvSpPr>
        <p:spPr>
          <a:xfrm>
            <a:off x="8394192" y="4160520"/>
            <a:ext cx="3008376" cy="228600"/>
          </a:xfrm>
          <a:prstGeom prst="rect">
            <a:avLst/>
          </a:prstGeom>
          <a:noFill/>
          <a:ln/>
        </p:spPr>
        <p:txBody>
          <a:bodyPr wrap="square" rtlCol="0" anchor="ctr"/>
          <a:lstStyle/>
          <a:p>
            <a:pPr indent="0" marL="0">
              <a:buNone/>
            </a:pPr>
            <a:r>
              <a:rPr lang="en-US" sz="900" b="1" spc="100" kern="0" dirty="0">
                <a:solidFill>
                  <a:srgbClr val="C9A96A"/>
                </a:solidFill>
                <a:latin typeface="Calibri" pitchFamily="34" charset="0"/>
                <a:ea typeface="Calibri" pitchFamily="34" charset="-122"/>
                <a:cs typeface="Calibri" pitchFamily="34" charset="-120"/>
              </a:rPr>
              <a:t>CE QUI NE CHANGE PAS</a:t>
            </a:r>
            <a:endParaRPr lang="en-US" sz="900" dirty="0"/>
          </a:p>
        </p:txBody>
      </p:sp>
      <p:sp>
        <p:nvSpPr>
          <p:cNvPr id="28" name="Text 26"/>
          <p:cNvSpPr/>
          <p:nvPr/>
        </p:nvSpPr>
        <p:spPr>
          <a:xfrm>
            <a:off x="8394192" y="4389120"/>
            <a:ext cx="3008376" cy="868680"/>
          </a:xfrm>
          <a:prstGeom prst="rect">
            <a:avLst/>
          </a:prstGeom>
          <a:noFill/>
          <a:ln/>
        </p:spPr>
        <p:txBody>
          <a:bodyPr wrap="square" rtlCol="0" anchor="ctr"/>
          <a:lstStyle/>
          <a:p>
            <a:pPr indent="0" marL="0">
              <a:lnSpc>
                <a:spcPct val="120000"/>
              </a:lnSpc>
              <a:buNone/>
            </a:pPr>
            <a:r>
              <a:rPr lang="en-US" sz="1050" dirty="0">
                <a:solidFill>
                  <a:srgbClr val="D8D8D8"/>
                </a:solidFill>
                <a:latin typeface="Calibri" pitchFamily="34" charset="0"/>
                <a:ea typeface="Calibri" pitchFamily="34" charset="-122"/>
                <a:cs typeface="Calibri" pitchFamily="34" charset="-120"/>
              </a:rPr>
              <a:t>Les altérations restent actives, mais discrètes, tant que le revenu n'est pas confirmé.</a:t>
            </a:r>
            <a:endParaRPr lang="en-US" sz="1050" dirty="0"/>
          </a:p>
        </p:txBody>
      </p:sp>
      <p:sp>
        <p:nvSpPr>
          <p:cNvPr id="29" name="Text 27"/>
          <p:cNvSpPr/>
          <p:nvPr/>
        </p:nvSpPr>
        <p:spPr>
          <a:xfrm>
            <a:off x="8394192" y="5303520"/>
            <a:ext cx="3008376" cy="228600"/>
          </a:xfrm>
          <a:prstGeom prst="rect">
            <a:avLst/>
          </a:prstGeom>
          <a:noFill/>
          <a:ln/>
        </p:spPr>
        <p:txBody>
          <a:bodyPr wrap="square" rtlCol="0" anchor="ctr"/>
          <a:lstStyle/>
          <a:p>
            <a:pPr indent="0" marL="0">
              <a:buNone/>
            </a:pPr>
            <a:r>
              <a:rPr lang="en-US" sz="900" b="1" spc="100" kern="0" dirty="0">
                <a:solidFill>
                  <a:srgbClr val="C9A96A"/>
                </a:solidFill>
                <a:latin typeface="Calibri" pitchFamily="34" charset="0"/>
                <a:ea typeface="Calibri" pitchFamily="34" charset="-122"/>
                <a:cs typeface="Calibri" pitchFamily="34" charset="-120"/>
              </a:rPr>
              <a:t>SIGNAL DE PASSAGE</a:t>
            </a:r>
            <a:endParaRPr lang="en-US" sz="900" dirty="0"/>
          </a:p>
        </p:txBody>
      </p:sp>
      <p:sp>
        <p:nvSpPr>
          <p:cNvPr id="30" name="Text 28"/>
          <p:cNvSpPr/>
          <p:nvPr/>
        </p:nvSpPr>
        <p:spPr>
          <a:xfrm>
            <a:off x="8394192" y="5532120"/>
            <a:ext cx="3008376" cy="548640"/>
          </a:xfrm>
          <a:prstGeom prst="rect">
            <a:avLst/>
          </a:prstGeom>
          <a:noFill/>
          <a:ln/>
        </p:spPr>
        <p:txBody>
          <a:bodyPr wrap="square" rtlCol="0" anchor="ctr"/>
          <a:lstStyle/>
          <a:p>
            <a:pPr indent="0" marL="0">
              <a:lnSpc>
                <a:spcPct val="120000"/>
              </a:lnSpc>
              <a:buNone/>
            </a:pPr>
            <a:r>
              <a:rPr lang="en-US" sz="1050" i="1" dirty="0">
                <a:solidFill>
                  <a:srgbClr val="B8B8B8"/>
                </a:solidFill>
                <a:latin typeface="Calibri" pitchFamily="34" charset="0"/>
                <a:ea typeface="Calibri" pitchFamily="34" charset="-122"/>
                <a:cs typeface="Calibri" pitchFamily="34" charset="-120"/>
              </a:rPr>
              <a:t>Revenu exclusif ≥ revenu de remplacement.</a:t>
            </a:r>
            <a:endParaRPr lang="en-US" sz="1050" dirty="0"/>
          </a:p>
        </p:txBody>
      </p:sp>
      <p:sp>
        <p:nvSpPr>
          <p:cNvPr id="31" name="Text 29"/>
          <p:cNvSpPr/>
          <p:nvPr/>
        </p:nvSpPr>
        <p:spPr>
          <a:xfrm>
            <a:off x="457200" y="6510528"/>
            <a:ext cx="5486400" cy="274320"/>
          </a:xfrm>
          <a:prstGeom prst="rect">
            <a:avLst/>
          </a:prstGeom>
          <a:noFill/>
          <a:ln/>
        </p:spPr>
        <p:txBody>
          <a:bodyPr wrap="square" rtlCol="0" anchor="ctr"/>
          <a:lstStyle/>
          <a:p>
            <a:pPr algn="l" indent="0" marL="0">
              <a:buNone/>
            </a:pPr>
            <a:r>
              <a:rPr lang="en-US" sz="900" dirty="0">
                <a:solidFill>
                  <a:srgbClr val="8A8A8A"/>
                </a:solidFill>
                <a:latin typeface="Calibri" pitchFamily="34" charset="0"/>
                <a:ea typeface="Calibri" pitchFamily="34" charset="-122"/>
                <a:cs typeface="Calibri" pitchFamily="34" charset="-120"/>
              </a:rPr>
              <a:t>Boutique Tailleur Mark 109</a:t>
            </a:r>
            <a:endParaRPr lang="en-US" sz="900" dirty="0"/>
          </a:p>
        </p:txBody>
      </p:sp>
      <p:sp>
        <p:nvSpPr>
          <p:cNvPr id="32" name="Text 30"/>
          <p:cNvSpPr/>
          <p:nvPr/>
        </p:nvSpPr>
        <p:spPr>
          <a:xfrm>
            <a:off x="11338560" y="6510528"/>
            <a:ext cx="365760" cy="274320"/>
          </a:xfrm>
          <a:prstGeom prst="rect">
            <a:avLst/>
          </a:prstGeom>
          <a:noFill/>
          <a:ln/>
        </p:spPr>
        <p:txBody>
          <a:bodyPr wrap="square"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9C7A3C"/>
                </a:solidFill>
                <a:latin typeface="Calibri" pitchFamily="34" charset="0"/>
                <a:ea typeface="Calibri" pitchFamily="34" charset="-122"/>
                <a:cs typeface="Calibri" pitchFamily="34" charset="-120"/>
              </a:rPr>
              <a:t>FEUILLE DE ROUTE</a:t>
            </a:r>
            <a:endParaRPr lang="en-US" sz="1300" dirty="0"/>
          </a:p>
        </p:txBody>
      </p:sp>
      <p:sp>
        <p:nvSpPr>
          <p:cNvPr id="3" name="Text 1"/>
          <p:cNvSpPr/>
          <p:nvPr/>
        </p:nvSpPr>
        <p:spPr>
          <a:xfrm>
            <a:off x="548640" y="713232"/>
            <a:ext cx="10515600" cy="822960"/>
          </a:xfrm>
          <a:prstGeom prst="rect">
            <a:avLst/>
          </a:prstGeom>
          <a:noFill/>
          <a:ln/>
        </p:spPr>
        <p:txBody>
          <a:bodyPr wrap="square" rtlCol="0" anchor="ctr"/>
          <a:lstStyle/>
          <a:p>
            <a:pPr indent="0" marL="0">
              <a:buNone/>
            </a:pPr>
            <a:r>
              <a:rPr lang="en-US" sz="3000" b="1" dirty="0">
                <a:solidFill>
                  <a:srgbClr val="1E1E1E"/>
                </a:solidFill>
                <a:latin typeface="Cambria" pitchFamily="34" charset="0"/>
                <a:ea typeface="Cambria" pitchFamily="34" charset="-122"/>
                <a:cs typeface="Cambria" pitchFamily="34" charset="-120"/>
              </a:rPr>
              <a:t>Plan d'action — 12 mois</a:t>
            </a:r>
            <a:endParaRPr lang="en-US" sz="3000" dirty="0"/>
          </a:p>
        </p:txBody>
      </p:sp>
      <p:sp>
        <p:nvSpPr>
          <p:cNvPr id="4" name="Shape 2"/>
          <p:cNvSpPr/>
          <p:nvPr/>
        </p:nvSpPr>
        <p:spPr>
          <a:xfrm>
            <a:off x="1234440" y="2606040"/>
            <a:ext cx="9692640" cy="0"/>
          </a:xfrm>
          <a:prstGeom prst="line">
            <a:avLst/>
          </a:prstGeom>
          <a:noFill/>
          <a:ln w="19050">
            <a:solidFill>
              <a:srgbClr val="D6D6D6"/>
            </a:solidFill>
            <a:prstDash val="solid"/>
          </a:ln>
        </p:spPr>
      </p:sp>
      <p:sp>
        <p:nvSpPr>
          <p:cNvPr id="5" name="Shape 3"/>
          <p:cNvSpPr/>
          <p:nvPr/>
        </p:nvSpPr>
        <p:spPr>
          <a:xfrm>
            <a:off x="1730502" y="2404872"/>
            <a:ext cx="402336" cy="402336"/>
          </a:xfrm>
          <a:prstGeom prst="ellipse">
            <a:avLst/>
          </a:prstGeom>
          <a:solidFill>
            <a:srgbClr val="9C7A3C"/>
          </a:solidFill>
          <a:ln w="25400">
            <a:solidFill>
              <a:srgbClr val="FFFFFF"/>
            </a:solidFill>
            <a:prstDash val="solid"/>
          </a:ln>
        </p:spPr>
      </p:sp>
      <p:sp>
        <p:nvSpPr>
          <p:cNvPr id="6" name="Text 4"/>
          <p:cNvSpPr/>
          <p:nvPr/>
        </p:nvSpPr>
        <p:spPr>
          <a:xfrm>
            <a:off x="640080" y="1783080"/>
            <a:ext cx="2583180" cy="365760"/>
          </a:xfrm>
          <a:prstGeom prst="rect">
            <a:avLst/>
          </a:prstGeom>
          <a:noFill/>
          <a:ln/>
        </p:spPr>
        <p:txBody>
          <a:bodyPr wrap="square" rtlCol="0" anchor="ctr"/>
          <a:lstStyle/>
          <a:p>
            <a:pPr algn="ctr" indent="0" marL="0">
              <a:buNone/>
            </a:pPr>
            <a:r>
              <a:rPr lang="en-US" sz="1100" b="1" dirty="0">
                <a:solidFill>
                  <a:srgbClr val="9C7A3C"/>
                </a:solidFill>
                <a:latin typeface="Calibri" pitchFamily="34" charset="0"/>
                <a:ea typeface="Calibri" pitchFamily="34" charset="-122"/>
                <a:cs typeface="Calibri" pitchFamily="34" charset="-120"/>
              </a:rPr>
              <a:t>Mois 1-2</a:t>
            </a:r>
            <a:endParaRPr lang="en-US" sz="1100" dirty="0"/>
          </a:p>
        </p:txBody>
      </p:sp>
      <p:sp>
        <p:nvSpPr>
          <p:cNvPr id="7" name="Text 5"/>
          <p:cNvSpPr/>
          <p:nvPr/>
        </p:nvSpPr>
        <p:spPr>
          <a:xfrm>
            <a:off x="640080" y="3017520"/>
            <a:ext cx="2583180" cy="411480"/>
          </a:xfrm>
          <a:prstGeom prst="rect">
            <a:avLst/>
          </a:prstGeom>
          <a:noFill/>
          <a:ln/>
        </p:spPr>
        <p:txBody>
          <a:bodyPr wrap="square" rtlCol="0" anchor="ctr"/>
          <a:lstStyle/>
          <a:p>
            <a:pPr algn="ctr" indent="0" marL="0">
              <a:buNone/>
            </a:pPr>
            <a:r>
              <a:rPr lang="en-US" sz="1600" b="1" dirty="0">
                <a:solidFill>
                  <a:srgbClr val="1E1E1E"/>
                </a:solidFill>
                <a:latin typeface="Cambria" pitchFamily="34" charset="0"/>
                <a:ea typeface="Cambria" pitchFamily="34" charset="-122"/>
                <a:cs typeface="Cambria" pitchFamily="34" charset="-120"/>
              </a:rPr>
              <a:t>Fondations</a:t>
            </a:r>
            <a:endParaRPr lang="en-US" sz="1600" dirty="0"/>
          </a:p>
        </p:txBody>
      </p:sp>
      <p:sp>
        <p:nvSpPr>
          <p:cNvPr id="8" name="Text 6"/>
          <p:cNvSpPr/>
          <p:nvPr/>
        </p:nvSpPr>
        <p:spPr>
          <a:xfrm>
            <a:off x="777240" y="3520440"/>
            <a:ext cx="2308860" cy="1463040"/>
          </a:xfrm>
          <a:prstGeom prst="rect">
            <a:avLst/>
          </a:prstGeom>
          <a:noFill/>
          <a:ln/>
        </p:spPr>
        <p:txBody>
          <a:bodyPr wrap="square" rtlCol="0" anchor="ctr"/>
          <a:lstStyle/>
          <a:p>
            <a:pPr algn="ctr" indent="0" marL="0">
              <a:lnSpc>
                <a:spcPct val="125000"/>
              </a:lnSpc>
              <a:buNone/>
            </a:pPr>
            <a:r>
              <a:rPr lang="en-US" sz="1100" dirty="0">
                <a:solidFill>
                  <a:srgbClr val="6B6B6B"/>
                </a:solidFill>
                <a:latin typeface="Calibri" pitchFamily="34" charset="0"/>
                <a:ea typeface="Calibri" pitchFamily="34" charset="-122"/>
                <a:cs typeface="Calibri" pitchFamily="34" charset="-120"/>
              </a:rPr>
              <a:t>Nouveau site + réservation, ouverture Instagram, refonte des textes</a:t>
            </a:r>
            <a:endParaRPr lang="en-US" sz="1100" dirty="0"/>
          </a:p>
        </p:txBody>
      </p:sp>
      <p:sp>
        <p:nvSpPr>
          <p:cNvPr id="9" name="Shape 7"/>
          <p:cNvSpPr/>
          <p:nvPr/>
        </p:nvSpPr>
        <p:spPr>
          <a:xfrm>
            <a:off x="4496562" y="2404872"/>
            <a:ext cx="402336" cy="402336"/>
          </a:xfrm>
          <a:prstGeom prst="ellipse">
            <a:avLst/>
          </a:prstGeom>
          <a:solidFill>
            <a:srgbClr val="9C7A3C"/>
          </a:solidFill>
          <a:ln w="25400">
            <a:solidFill>
              <a:srgbClr val="FFFFFF"/>
            </a:solidFill>
            <a:prstDash val="solid"/>
          </a:ln>
        </p:spPr>
      </p:sp>
      <p:sp>
        <p:nvSpPr>
          <p:cNvPr id="10" name="Text 8"/>
          <p:cNvSpPr/>
          <p:nvPr/>
        </p:nvSpPr>
        <p:spPr>
          <a:xfrm>
            <a:off x="3406140" y="1783080"/>
            <a:ext cx="2583180" cy="365760"/>
          </a:xfrm>
          <a:prstGeom prst="rect">
            <a:avLst/>
          </a:prstGeom>
          <a:noFill/>
          <a:ln/>
        </p:spPr>
        <p:txBody>
          <a:bodyPr wrap="square" rtlCol="0" anchor="ctr"/>
          <a:lstStyle/>
          <a:p>
            <a:pPr algn="ctr" indent="0" marL="0">
              <a:buNone/>
            </a:pPr>
            <a:r>
              <a:rPr lang="en-US" sz="1100" b="1" dirty="0">
                <a:solidFill>
                  <a:srgbClr val="9C7A3C"/>
                </a:solidFill>
                <a:latin typeface="Calibri" pitchFamily="34" charset="0"/>
                <a:ea typeface="Calibri" pitchFamily="34" charset="-122"/>
                <a:cs typeface="Calibri" pitchFamily="34" charset="-120"/>
              </a:rPr>
              <a:t>Mois 3-4</a:t>
            </a:r>
            <a:endParaRPr lang="en-US" sz="1100" dirty="0"/>
          </a:p>
        </p:txBody>
      </p:sp>
      <p:sp>
        <p:nvSpPr>
          <p:cNvPr id="11" name="Text 9"/>
          <p:cNvSpPr/>
          <p:nvPr/>
        </p:nvSpPr>
        <p:spPr>
          <a:xfrm>
            <a:off x="3406140" y="3017520"/>
            <a:ext cx="2583180" cy="411480"/>
          </a:xfrm>
          <a:prstGeom prst="rect">
            <a:avLst/>
          </a:prstGeom>
          <a:noFill/>
          <a:ln/>
        </p:spPr>
        <p:txBody>
          <a:bodyPr wrap="square" rtlCol="0" anchor="ctr"/>
          <a:lstStyle/>
          <a:p>
            <a:pPr algn="ctr" indent="0" marL="0">
              <a:buNone/>
            </a:pPr>
            <a:r>
              <a:rPr lang="en-US" sz="1600" b="1" dirty="0">
                <a:solidFill>
                  <a:srgbClr val="1E1E1E"/>
                </a:solidFill>
                <a:latin typeface="Cambria" pitchFamily="34" charset="0"/>
                <a:ea typeface="Cambria" pitchFamily="34" charset="-122"/>
                <a:cs typeface="Cambria" pitchFamily="34" charset="-120"/>
              </a:rPr>
              <a:t>Lancement</a:t>
            </a:r>
            <a:endParaRPr lang="en-US" sz="1600" dirty="0"/>
          </a:p>
        </p:txBody>
      </p:sp>
      <p:sp>
        <p:nvSpPr>
          <p:cNvPr id="12" name="Text 10"/>
          <p:cNvSpPr/>
          <p:nvPr/>
        </p:nvSpPr>
        <p:spPr>
          <a:xfrm>
            <a:off x="3543300" y="3520440"/>
            <a:ext cx="2308860" cy="1463040"/>
          </a:xfrm>
          <a:prstGeom prst="rect">
            <a:avLst/>
          </a:prstGeom>
          <a:noFill/>
          <a:ln/>
        </p:spPr>
        <p:txBody>
          <a:bodyPr wrap="square" rtlCol="0" anchor="ctr"/>
          <a:lstStyle/>
          <a:p>
            <a:pPr algn="ctr" indent="0" marL="0">
              <a:lnSpc>
                <a:spcPct val="125000"/>
              </a:lnSpc>
              <a:buNone/>
            </a:pPr>
            <a:r>
              <a:rPr lang="en-US" sz="1100" dirty="0">
                <a:solidFill>
                  <a:srgbClr val="6B6B6B"/>
                </a:solidFill>
                <a:latin typeface="Calibri" pitchFamily="34" charset="0"/>
                <a:ea typeface="Calibri" pitchFamily="34" charset="-122"/>
                <a:cs typeface="Calibri" pitchFamily="34" charset="-120"/>
              </a:rPr>
              <a:t>Annonce aux clients existants, séance photo, premiers témoignages</a:t>
            </a:r>
            <a:endParaRPr lang="en-US" sz="1100" dirty="0"/>
          </a:p>
        </p:txBody>
      </p:sp>
      <p:sp>
        <p:nvSpPr>
          <p:cNvPr id="13" name="Shape 11"/>
          <p:cNvSpPr/>
          <p:nvPr/>
        </p:nvSpPr>
        <p:spPr>
          <a:xfrm>
            <a:off x="7262622" y="2404872"/>
            <a:ext cx="402336" cy="402336"/>
          </a:xfrm>
          <a:prstGeom prst="ellipse">
            <a:avLst/>
          </a:prstGeom>
          <a:solidFill>
            <a:srgbClr val="9C7A3C"/>
          </a:solidFill>
          <a:ln w="25400">
            <a:solidFill>
              <a:srgbClr val="FFFFFF"/>
            </a:solidFill>
            <a:prstDash val="solid"/>
          </a:ln>
        </p:spPr>
      </p:sp>
      <p:sp>
        <p:nvSpPr>
          <p:cNvPr id="14" name="Text 12"/>
          <p:cNvSpPr/>
          <p:nvPr/>
        </p:nvSpPr>
        <p:spPr>
          <a:xfrm>
            <a:off x="6172200" y="1783080"/>
            <a:ext cx="2583180" cy="365760"/>
          </a:xfrm>
          <a:prstGeom prst="rect">
            <a:avLst/>
          </a:prstGeom>
          <a:noFill/>
          <a:ln/>
        </p:spPr>
        <p:txBody>
          <a:bodyPr wrap="square" rtlCol="0" anchor="ctr"/>
          <a:lstStyle/>
          <a:p>
            <a:pPr algn="ctr" indent="0" marL="0">
              <a:buNone/>
            </a:pPr>
            <a:r>
              <a:rPr lang="en-US" sz="1100" b="1" dirty="0">
                <a:solidFill>
                  <a:srgbClr val="9C7A3C"/>
                </a:solidFill>
                <a:latin typeface="Calibri" pitchFamily="34" charset="0"/>
                <a:ea typeface="Calibri" pitchFamily="34" charset="-122"/>
                <a:cs typeface="Calibri" pitchFamily="34" charset="-120"/>
              </a:rPr>
              <a:t>Mois 5-8</a:t>
            </a:r>
            <a:endParaRPr lang="en-US" sz="1100" dirty="0"/>
          </a:p>
        </p:txBody>
      </p:sp>
      <p:sp>
        <p:nvSpPr>
          <p:cNvPr id="15" name="Text 13"/>
          <p:cNvSpPr/>
          <p:nvPr/>
        </p:nvSpPr>
        <p:spPr>
          <a:xfrm>
            <a:off x="6172200" y="3017520"/>
            <a:ext cx="2583180" cy="411480"/>
          </a:xfrm>
          <a:prstGeom prst="rect">
            <a:avLst/>
          </a:prstGeom>
          <a:noFill/>
          <a:ln/>
        </p:spPr>
        <p:txBody>
          <a:bodyPr wrap="square" rtlCol="0" anchor="ctr"/>
          <a:lstStyle/>
          <a:p>
            <a:pPr algn="ctr" indent="0" marL="0">
              <a:buNone/>
            </a:pPr>
            <a:r>
              <a:rPr lang="en-US" sz="1600" b="1" dirty="0">
                <a:solidFill>
                  <a:srgbClr val="1E1E1E"/>
                </a:solidFill>
                <a:latin typeface="Cambria" pitchFamily="34" charset="0"/>
                <a:ea typeface="Cambria" pitchFamily="34" charset="-122"/>
                <a:cs typeface="Cambria" pitchFamily="34" charset="-120"/>
              </a:rPr>
              <a:t>Construction</a:t>
            </a:r>
            <a:endParaRPr lang="en-US" sz="1600" dirty="0"/>
          </a:p>
        </p:txBody>
      </p:sp>
      <p:sp>
        <p:nvSpPr>
          <p:cNvPr id="16" name="Text 14"/>
          <p:cNvSpPr/>
          <p:nvPr/>
        </p:nvSpPr>
        <p:spPr>
          <a:xfrm>
            <a:off x="6309360" y="3520440"/>
            <a:ext cx="2308860" cy="1463040"/>
          </a:xfrm>
          <a:prstGeom prst="rect">
            <a:avLst/>
          </a:prstGeom>
          <a:noFill/>
          <a:ln/>
        </p:spPr>
        <p:txBody>
          <a:bodyPr wrap="square" rtlCol="0" anchor="ctr"/>
          <a:lstStyle/>
          <a:p>
            <a:pPr algn="ctr" indent="0" marL="0">
              <a:lnSpc>
                <a:spcPct val="125000"/>
              </a:lnSpc>
              <a:buNone/>
            </a:pPr>
            <a:r>
              <a:rPr lang="en-US" sz="1100" dirty="0">
                <a:solidFill>
                  <a:srgbClr val="6B6B6B"/>
                </a:solidFill>
                <a:latin typeface="Calibri" pitchFamily="34" charset="0"/>
                <a:ea typeface="Calibri" pitchFamily="34" charset="-122"/>
                <a:cs typeface="Calibri" pitchFamily="34" charset="-120"/>
              </a:rPr>
              <a:t>Contenu régulier, collaborations clients, suivi de la note Google</a:t>
            </a:r>
            <a:endParaRPr lang="en-US" sz="1100" dirty="0"/>
          </a:p>
        </p:txBody>
      </p:sp>
      <p:sp>
        <p:nvSpPr>
          <p:cNvPr id="17" name="Shape 15"/>
          <p:cNvSpPr/>
          <p:nvPr/>
        </p:nvSpPr>
        <p:spPr>
          <a:xfrm>
            <a:off x="10028682" y="2404872"/>
            <a:ext cx="402336" cy="402336"/>
          </a:xfrm>
          <a:prstGeom prst="ellipse">
            <a:avLst/>
          </a:prstGeom>
          <a:solidFill>
            <a:srgbClr val="9C7A3C"/>
          </a:solidFill>
          <a:ln w="25400">
            <a:solidFill>
              <a:srgbClr val="FFFFFF"/>
            </a:solidFill>
            <a:prstDash val="solid"/>
          </a:ln>
        </p:spPr>
      </p:sp>
      <p:sp>
        <p:nvSpPr>
          <p:cNvPr id="18" name="Text 16"/>
          <p:cNvSpPr/>
          <p:nvPr/>
        </p:nvSpPr>
        <p:spPr>
          <a:xfrm>
            <a:off x="8938260" y="1783080"/>
            <a:ext cx="2583180" cy="365760"/>
          </a:xfrm>
          <a:prstGeom prst="rect">
            <a:avLst/>
          </a:prstGeom>
          <a:noFill/>
          <a:ln/>
        </p:spPr>
        <p:txBody>
          <a:bodyPr wrap="square" rtlCol="0" anchor="ctr"/>
          <a:lstStyle/>
          <a:p>
            <a:pPr algn="ctr" indent="0" marL="0">
              <a:buNone/>
            </a:pPr>
            <a:r>
              <a:rPr lang="en-US" sz="1100" b="1" dirty="0">
                <a:solidFill>
                  <a:srgbClr val="9C7A3C"/>
                </a:solidFill>
                <a:latin typeface="Calibri" pitchFamily="34" charset="0"/>
                <a:ea typeface="Calibri" pitchFamily="34" charset="-122"/>
                <a:cs typeface="Calibri" pitchFamily="34" charset="-120"/>
              </a:rPr>
              <a:t>Mois 9-12</a:t>
            </a:r>
            <a:endParaRPr lang="en-US" sz="1100" dirty="0"/>
          </a:p>
        </p:txBody>
      </p:sp>
      <p:sp>
        <p:nvSpPr>
          <p:cNvPr id="19" name="Text 17"/>
          <p:cNvSpPr/>
          <p:nvPr/>
        </p:nvSpPr>
        <p:spPr>
          <a:xfrm>
            <a:off x="8938260" y="3017520"/>
            <a:ext cx="2583180" cy="411480"/>
          </a:xfrm>
          <a:prstGeom prst="rect">
            <a:avLst/>
          </a:prstGeom>
          <a:noFill/>
          <a:ln/>
        </p:spPr>
        <p:txBody>
          <a:bodyPr wrap="square" rtlCol="0" anchor="ctr"/>
          <a:lstStyle/>
          <a:p>
            <a:pPr algn="ctr" indent="0" marL="0">
              <a:buNone/>
            </a:pPr>
            <a:r>
              <a:rPr lang="en-US" sz="1600" b="1" dirty="0">
                <a:solidFill>
                  <a:srgbClr val="1E1E1E"/>
                </a:solidFill>
                <a:latin typeface="Cambria" pitchFamily="34" charset="0"/>
                <a:ea typeface="Cambria" pitchFamily="34" charset="-122"/>
                <a:cs typeface="Cambria" pitchFamily="34" charset="-120"/>
              </a:rPr>
              <a:t>Consolidation</a:t>
            </a:r>
            <a:endParaRPr lang="en-US" sz="1600" dirty="0"/>
          </a:p>
        </p:txBody>
      </p:sp>
      <p:sp>
        <p:nvSpPr>
          <p:cNvPr id="20" name="Text 18"/>
          <p:cNvSpPr/>
          <p:nvPr/>
        </p:nvSpPr>
        <p:spPr>
          <a:xfrm>
            <a:off x="9075420" y="3520440"/>
            <a:ext cx="2308860" cy="1463040"/>
          </a:xfrm>
          <a:prstGeom prst="rect">
            <a:avLst/>
          </a:prstGeom>
          <a:noFill/>
          <a:ln/>
        </p:spPr>
        <p:txBody>
          <a:bodyPr wrap="square" rtlCol="0" anchor="ctr"/>
          <a:lstStyle/>
          <a:p>
            <a:pPr algn="ctr" indent="0" marL="0">
              <a:lnSpc>
                <a:spcPct val="125000"/>
              </a:lnSpc>
              <a:buNone/>
            </a:pPr>
            <a:r>
              <a:rPr lang="en-US" sz="1100" dirty="0">
                <a:solidFill>
                  <a:srgbClr val="6B6B6B"/>
                </a:solidFill>
                <a:latin typeface="Calibri" pitchFamily="34" charset="0"/>
                <a:ea typeface="Calibri" pitchFamily="34" charset="-122"/>
                <a:cs typeface="Calibri" pitchFamily="34" charset="-120"/>
              </a:rPr>
              <a:t>Fidélisation, bilan des données, ajustement des paliers de prix</a:t>
            </a:r>
            <a:endParaRPr lang="en-US" sz="1100" dirty="0"/>
          </a:p>
        </p:txBody>
      </p:sp>
      <p:sp>
        <p:nvSpPr>
          <p:cNvPr id="21" name="Text 19"/>
          <p:cNvSpPr/>
          <p:nvPr/>
        </p:nvSpPr>
        <p:spPr>
          <a:xfrm>
            <a:off x="457200" y="6510528"/>
            <a:ext cx="5486400" cy="274320"/>
          </a:xfrm>
          <a:prstGeom prst="rect">
            <a:avLst/>
          </a:prstGeom>
          <a:noFill/>
          <a:ln/>
        </p:spPr>
        <p:txBody>
          <a:bodyPr wrap="square" rtlCol="0" anchor="ctr"/>
          <a:lstStyle/>
          <a:p>
            <a:pPr algn="l" indent="0" marL="0">
              <a:buNone/>
            </a:pPr>
            <a:r>
              <a:rPr lang="en-US" sz="900" dirty="0">
                <a:solidFill>
                  <a:srgbClr val="A9A9A9"/>
                </a:solidFill>
                <a:latin typeface="Calibri" pitchFamily="34" charset="0"/>
                <a:ea typeface="Calibri" pitchFamily="34" charset="-122"/>
                <a:cs typeface="Calibri" pitchFamily="34" charset="-120"/>
              </a:rPr>
              <a:t>Boutique Tailleur Mark 109</a:t>
            </a:r>
            <a:endParaRPr lang="en-US" sz="900" dirty="0"/>
          </a:p>
        </p:txBody>
      </p:sp>
      <p:sp>
        <p:nvSpPr>
          <p:cNvPr id="22" name="Text 20"/>
          <p:cNvSpPr/>
          <p:nvPr/>
        </p:nvSpPr>
        <p:spPr>
          <a:xfrm>
            <a:off x="11338560" y="6510528"/>
            <a:ext cx="365760" cy="274320"/>
          </a:xfrm>
          <a:prstGeom prst="rect">
            <a:avLst/>
          </a:prstGeom>
          <a:noFill/>
          <a:ln/>
        </p:spPr>
        <p:txBody>
          <a:bodyPr wrap="square" rtlCol="0" anchor="ctr"/>
          <a:lstStyle/>
          <a:p>
            <a:pPr algn="r" indent="0" marL="0">
              <a:buNone/>
            </a:pPr>
            <a:r>
              <a:rPr lang="en-US" sz="900" dirty="0">
                <a:solidFill>
                  <a:srgbClr val="A9A9A9"/>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9418320" y="-2011680"/>
            <a:ext cx="5943600" cy="5943600"/>
          </a:xfrm>
          <a:prstGeom prst="ellipse">
            <a:avLst/>
          </a:prstGeom>
          <a:solidFill>
            <a:srgbClr val="2B2B2B"/>
          </a:solidFill>
          <a:ln/>
        </p:spPr>
      </p:sp>
      <p:sp>
        <p:nvSpPr>
          <p:cNvPr id="3" name="Text 1"/>
          <p:cNvSpPr/>
          <p:nvPr/>
        </p:nvSpPr>
        <p:spPr>
          <a:xfrm>
            <a:off x="731520" y="2011680"/>
            <a:ext cx="7315200" cy="365760"/>
          </a:xfrm>
          <a:prstGeom prst="rect">
            <a:avLst/>
          </a:prstGeom>
          <a:noFill/>
          <a:ln/>
        </p:spPr>
        <p:txBody>
          <a:bodyPr wrap="square" rtlCol="0" anchor="ctr"/>
          <a:lstStyle/>
          <a:p>
            <a:pPr indent="0" marL="0">
              <a:buNone/>
            </a:pPr>
            <a:r>
              <a:rPr lang="en-US" sz="1300" b="1" spc="200" kern="0" dirty="0">
                <a:solidFill>
                  <a:srgbClr val="C9A96A"/>
                </a:solidFill>
                <a:latin typeface="Calibri" pitchFamily="34" charset="0"/>
                <a:ea typeface="Calibri" pitchFamily="34" charset="-122"/>
                <a:cs typeface="Calibri" pitchFamily="34" charset="-120"/>
              </a:rPr>
              <a:t>PROCHAINES ÉTAPES</a:t>
            </a:r>
            <a:endParaRPr lang="en-US" sz="1300" dirty="0"/>
          </a:p>
        </p:txBody>
      </p:sp>
      <p:sp>
        <p:nvSpPr>
          <p:cNvPr id="4" name="Text 2"/>
          <p:cNvSpPr/>
          <p:nvPr/>
        </p:nvSpPr>
        <p:spPr>
          <a:xfrm>
            <a:off x="685800" y="2423160"/>
            <a:ext cx="9601200" cy="1005840"/>
          </a:xfrm>
          <a:prstGeom prst="rect">
            <a:avLst/>
          </a:prstGeom>
          <a:noFill/>
          <a:ln/>
        </p:spPr>
        <p:txBody>
          <a:bodyPr wrap="square"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Validons la vision ensemble.</a:t>
            </a:r>
            <a:endParaRPr lang="en-US" sz="3600" dirty="0"/>
          </a:p>
        </p:txBody>
      </p:sp>
      <p:sp>
        <p:nvSpPr>
          <p:cNvPr id="5" name="Text 3"/>
          <p:cNvSpPr/>
          <p:nvPr/>
        </p:nvSpPr>
        <p:spPr>
          <a:xfrm>
            <a:off x="731520" y="3520440"/>
            <a:ext cx="8046720" cy="1005840"/>
          </a:xfrm>
          <a:prstGeom prst="rect">
            <a:avLst/>
          </a:prstGeom>
          <a:noFill/>
          <a:ln/>
        </p:spPr>
        <p:txBody>
          <a:bodyPr wrap="square" rtlCol="0" anchor="ctr"/>
          <a:lstStyle/>
          <a:p>
            <a:pPr indent="0" marL="0">
              <a:lnSpc>
                <a:spcPct val="130000"/>
              </a:lnSpc>
              <a:buNone/>
            </a:pPr>
            <a:r>
              <a:rPr lang="en-US" sz="1500" dirty="0">
                <a:solidFill>
                  <a:srgbClr val="D8D8D8"/>
                </a:solidFill>
                <a:latin typeface="Calibri" pitchFamily="34" charset="0"/>
                <a:ea typeface="Calibri" pitchFamily="34" charset="-122"/>
                <a:cs typeface="Calibri" pitchFamily="34" charset="-120"/>
              </a:rPr>
              <a:t>Une rencontre de 45 à 60 minutes pour valider le repositionnement, prioriser les actions des 90 premiers jours et convenir d'un calendrier de mise en œuvre réaliste.</a:t>
            </a:r>
            <a:endParaRPr lang="en-US" sz="1500" dirty="0"/>
          </a:p>
        </p:txBody>
      </p:sp>
      <p:sp>
        <p:nvSpPr>
          <p:cNvPr id="6" name="Text 4"/>
          <p:cNvSpPr/>
          <p:nvPr/>
        </p:nvSpPr>
        <p:spPr>
          <a:xfrm>
            <a:off x="457200" y="6510528"/>
            <a:ext cx="5486400" cy="274320"/>
          </a:xfrm>
          <a:prstGeom prst="rect">
            <a:avLst/>
          </a:prstGeom>
          <a:noFill/>
          <a:ln/>
        </p:spPr>
        <p:txBody>
          <a:bodyPr wrap="square" rtlCol="0" anchor="ctr"/>
          <a:lstStyle/>
          <a:p>
            <a:pPr algn="l" indent="0" marL="0">
              <a:buNone/>
            </a:pPr>
            <a:r>
              <a:rPr lang="en-US" sz="900" dirty="0">
                <a:solidFill>
                  <a:srgbClr val="8A8A8A"/>
                </a:solidFill>
                <a:latin typeface="Calibri" pitchFamily="34" charset="0"/>
                <a:ea typeface="Calibri" pitchFamily="34" charset="-122"/>
                <a:cs typeface="Calibri" pitchFamily="34" charset="-120"/>
              </a:rPr>
              <a:t>Boutique Tailleur Mark 109</a:t>
            </a:r>
            <a:endParaRPr lang="en-US" sz="900" dirty="0"/>
          </a:p>
        </p:txBody>
      </p:sp>
      <p:sp>
        <p:nvSpPr>
          <p:cNvPr id="7" name="Text 5"/>
          <p:cNvSpPr/>
          <p:nvPr/>
        </p:nvSpPr>
        <p:spPr>
          <a:xfrm>
            <a:off x="11338560" y="6510528"/>
            <a:ext cx="365760" cy="274320"/>
          </a:xfrm>
          <a:prstGeom prst="rect">
            <a:avLst/>
          </a:prstGeom>
          <a:noFill/>
          <a:ln/>
        </p:spPr>
        <p:txBody>
          <a:bodyPr wrap="square"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2026-08-20T16:23:03Z</dcterms:created>
  <dcterms:modified xsi:type="dcterms:W3CDTF">2026-08-20T16:23:03Z</dcterms:modified>
</cp:coreProperties>
</file>